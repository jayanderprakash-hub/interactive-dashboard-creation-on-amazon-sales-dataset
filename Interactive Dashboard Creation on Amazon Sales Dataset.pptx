
<file path=[Content_Types].xml><?xml version="1.0" encoding="utf-8"?>
<Types xmlns="http://schemas.openxmlformats.org/package/2006/content-types">
  <Default Extension="glb" ContentType="model/gltf.binary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theme/theme2.xml" ContentType="application/vnd.openxmlformats-officedocument.them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charts/chartEx1.xml" ContentType="application/vnd.ms-office.chartex+xml"/>
  <Override PartName="/ppt/charts/style3.xml" ContentType="application/vnd.ms-office.chartstyle+xml"/>
  <Override PartName="/ppt/charts/colors3.xml" ContentType="application/vnd.ms-office.chartcolorstyle+xml"/>
  <Override PartName="/ppt/charts/chart3.xml" ContentType="application/vnd.openxmlformats-officedocument.drawingml.chart+xml"/>
  <Override PartName="/ppt/charts/style4.xml" ContentType="application/vnd.ms-office.chartstyle+xml"/>
  <Override PartName="/ppt/charts/colors4.xml" ContentType="application/vnd.ms-office.chartcolorstyle+xml"/>
  <Override PartName="/ppt/charts/chart4.xml" ContentType="application/vnd.openxmlformats-officedocument.drawingml.chart+xml"/>
  <Override PartName="/ppt/charts/style5.xml" ContentType="application/vnd.ms-office.chartstyle+xml"/>
  <Override PartName="/ppt/charts/colors5.xml" ContentType="application/vnd.ms-office.chartcolorstyle+xml"/>
  <Override PartName="/ppt/charts/chart5.xml" ContentType="application/vnd.openxmlformats-officedocument.drawingml.chart+xml"/>
  <Override PartName="/ppt/charts/style6.xml" ContentType="application/vnd.ms-office.chartstyle+xml"/>
  <Override PartName="/ppt/charts/colors6.xml" ContentType="application/vnd.ms-office.chartcolorstyle+xml"/>
  <Override PartName="/ppt/charts/chart6.xml" ContentType="application/vnd.openxmlformats-officedocument.drawingml.chart+xml"/>
  <Override PartName="/ppt/charts/style7.xml" ContentType="application/vnd.ms-office.chartstyle+xml"/>
  <Override PartName="/ppt/charts/colors7.xml" ContentType="application/vnd.ms-office.chartcolorstyl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83" r:id="rId7"/>
    <p:sldId id="284" r:id="rId8"/>
    <p:sldId id="285" r:id="rId9"/>
    <p:sldId id="286" r:id="rId10"/>
    <p:sldId id="287" r:id="rId11"/>
    <p:sldId id="288" r:id="rId12"/>
    <p:sldId id="289" r:id="rId13"/>
    <p:sldId id="264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5F5F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000" autoAdjust="0"/>
    <p:restoredTop sz="94598" autoAdjust="0"/>
  </p:normalViewPr>
  <p:slideViewPr>
    <p:cSldViewPr snapToGrid="0">
      <p:cViewPr varScale="1">
        <p:scale>
          <a:sx n="69" d="100"/>
          <a:sy n="69" d="100"/>
        </p:scale>
        <p:origin x="780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SQL%20Query%20Data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the%20Data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_rels/chart3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the%20Data.xlsx" TargetMode="External"/><Relationship Id="rId2" Type="http://schemas.microsoft.com/office/2011/relationships/chartColorStyle" Target="colors4.xml"/><Relationship Id="rId1" Type="http://schemas.microsoft.com/office/2011/relationships/chartStyle" Target="style4.xml"/></Relationships>
</file>

<file path=ppt/charts/_rels/chart4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the%20Data.xlsx" TargetMode="External"/><Relationship Id="rId2" Type="http://schemas.microsoft.com/office/2011/relationships/chartColorStyle" Target="colors5.xml"/><Relationship Id="rId1" Type="http://schemas.microsoft.com/office/2011/relationships/chartStyle" Target="style5.xml"/></Relationships>
</file>

<file path=ppt/charts/_rels/chart5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the%20Data.xlsx" TargetMode="External"/><Relationship Id="rId2" Type="http://schemas.microsoft.com/office/2011/relationships/chartColorStyle" Target="colors6.xml"/><Relationship Id="rId1" Type="http://schemas.microsoft.com/office/2011/relationships/chartStyle" Target="style6.xml"/></Relationships>
</file>

<file path=ppt/charts/_rels/chart6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msi\Downloads\Livewire\Excel\Project%202\Visualising%20of%20the%20Data.xlsx" TargetMode="External"/><Relationship Id="rId2" Type="http://schemas.microsoft.com/office/2011/relationships/chartColorStyle" Target="colors7.xml"/><Relationship Id="rId1" Type="http://schemas.microsoft.com/office/2011/relationships/chartStyle" Target="style7.xml"/></Relationships>
</file>

<file path=ppt/charts/_rels/chartEx1.xml.rels><?xml version="1.0" encoding="UTF-8" standalone="yes"?>
<Relationships xmlns="http://schemas.openxmlformats.org/package/2006/relationships"><Relationship Id="rId3" Type="http://schemas.microsoft.com/office/2011/relationships/chartColorStyle" Target="colors3.xml"/><Relationship Id="rId2" Type="http://schemas.microsoft.com/office/2011/relationships/chartStyle" Target="style3.xml"/><Relationship Id="rId1" Type="http://schemas.openxmlformats.org/officeDocument/2006/relationships/oleObject" Target="file:///C:\Users\msi\Downloads\Livewire\Excel\Project%202\Visualising%20of%20the%20Data.xlsx" TargetMode="Externa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SQL Query Data.xlsx]Query 01!PivotTable1</c:name>
    <c:fmtId val="3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800" b="1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r>
              <a:rPr lang="en-IN"/>
              <a:t>Avg Revenue by Product</a:t>
            </a:r>
            <a:r>
              <a:rPr lang="en-IN" baseline="0"/>
              <a:t> Category</a:t>
            </a:r>
            <a:endParaRPr lang="en-IN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800" b="1" i="0" u="none" strike="noStrike" kern="1200" baseline="0">
              <a:solidFill>
                <a:schemeClr val="dk1">
                  <a:lumMod val="75000"/>
                  <a:lumOff val="2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solidFill>
            <a:schemeClr val="accent1">
              <a:alpha val="85000"/>
            </a:schemeClr>
          </a:solidFill>
          <a:ln w="9525" cap="flat" cmpd="sng" algn="ctr">
            <a:solidFill>
              <a:schemeClr val="lt1">
                <a:alpha val="50000"/>
              </a:schemeClr>
            </a:solidFill>
            <a:round/>
          </a:ln>
          <a:effectLst/>
        </c:spPr>
        <c:marker>
          <c:symbol val="circle"/>
          <c:size val="6"/>
          <c:spPr>
            <a:solidFill>
              <a:schemeClr val="accent1">
                <a:alpha val="85000"/>
              </a:schemeClr>
            </a:solidFill>
            <a:ln>
              <a:noFill/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>
              <a:alpha val="85000"/>
            </a:schemeClr>
          </a:solidFill>
          <a:ln w="9525" cap="flat" cmpd="sng" algn="ctr">
            <a:solidFill>
              <a:schemeClr val="lt1">
                <a:alpha val="50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>
              <a:alpha val="85000"/>
            </a:schemeClr>
          </a:solidFill>
          <a:ln w="9525" cap="flat" cmpd="sng" algn="ctr">
            <a:solidFill>
              <a:schemeClr val="lt1">
                <a:alpha val="50000"/>
              </a:schemeClr>
            </a:solidFill>
            <a:round/>
          </a:ln>
          <a:effectLst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1" i="0" u="none" strike="noStrike" kern="1200" baseline="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'Query 01'!$G$1</c:f>
              <c:strCache>
                <c:ptCount val="1"/>
                <c:pt idx="0">
                  <c:v>Total</c:v>
                </c:pt>
              </c:strCache>
            </c:strRef>
          </c:tx>
          <c:spPr>
            <a:solidFill>
              <a:schemeClr val="accent1">
                <a:alpha val="85000"/>
              </a:schemeClr>
            </a:solidFill>
            <a:ln w="9525" cap="flat" cmpd="sng" algn="ctr">
              <a:solidFill>
                <a:schemeClr val="lt1">
                  <a:alpha val="50000"/>
                </a:schemeClr>
              </a:solidFill>
              <a:round/>
            </a:ln>
            <a:effectLst/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1" i="0" u="none" strike="noStrike" kern="1200" baseline="0">
                    <a:solidFill>
                      <a:schemeClr val="lt1"/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dk1">
                          <a:lumMod val="50000"/>
                          <a:lumOff val="50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cat>
            <c:strRef>
              <c:f>'Query 01'!$F$2:$F$8</c:f>
              <c:strCache>
                <c:ptCount val="6"/>
                <c:pt idx="0">
                  <c:v>Beauty</c:v>
                </c:pt>
                <c:pt idx="1">
                  <c:v>Books</c:v>
                </c:pt>
                <c:pt idx="2">
                  <c:v>Electronics</c:v>
                </c:pt>
                <c:pt idx="3">
                  <c:v>Fashion</c:v>
                </c:pt>
                <c:pt idx="4">
                  <c:v>Home &amp; Kitchen</c:v>
                </c:pt>
                <c:pt idx="5">
                  <c:v>Sports</c:v>
                </c:pt>
              </c:strCache>
            </c:strRef>
          </c:cat>
          <c:val>
            <c:numRef>
              <c:f>'Query 01'!$G$2:$G$8</c:f>
              <c:numCache>
                <c:formatCode>General</c:formatCode>
                <c:ptCount val="6"/>
                <c:pt idx="0">
                  <c:v>5550625</c:v>
                </c:pt>
                <c:pt idx="1">
                  <c:v>5484863</c:v>
                </c:pt>
                <c:pt idx="2">
                  <c:v>5470594</c:v>
                </c:pt>
                <c:pt idx="3">
                  <c:v>5480123</c:v>
                </c:pt>
                <c:pt idx="4">
                  <c:v>5473133</c:v>
                </c:pt>
                <c:pt idx="5">
                  <c:v>5407236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2798-4199-B35A-C6A4BCDD416C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65"/>
        <c:axId val="497520800"/>
        <c:axId val="497515392"/>
      </c:barChart>
      <c:catAx>
        <c:axId val="497520800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19050" cap="flat" cmpd="sng" algn="ctr">
            <a:solidFill>
              <a:schemeClr val="dk1">
                <a:lumMod val="75000"/>
                <a:lumOff val="2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cap="all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7515392"/>
        <c:crosses val="autoZero"/>
        <c:auto val="1"/>
        <c:lblAlgn val="ctr"/>
        <c:lblOffset val="100"/>
        <c:noMultiLvlLbl val="0"/>
      </c:catAx>
      <c:valAx>
        <c:axId val="497515392"/>
        <c:scaling>
          <c:orientation val="minMax"/>
        </c:scaling>
        <c:delete val="0"/>
        <c:axPos val="l"/>
        <c:majorGridlines>
          <c:spPr>
            <a:ln w="9525" cap="flat" cmpd="sng" algn="ctr">
              <a:gradFill>
                <a:gsLst>
                  <a:gs pos="100000">
                    <a:schemeClr val="dk1">
                      <a:lumMod val="95000"/>
                      <a:lumOff val="5000"/>
                      <a:alpha val="42000"/>
                    </a:schemeClr>
                  </a:gs>
                  <a:gs pos="0">
                    <a:schemeClr val="lt1">
                      <a:lumMod val="75000"/>
                      <a:alpha val="36000"/>
                    </a:schemeClr>
                  </a:gs>
                </a:gsLst>
                <a:lin ang="5400000" scaled="0"/>
              </a:gradFill>
              <a:round/>
            </a:ln>
            <a:effectLst/>
          </c:spPr>
        </c:majorGridlines>
        <c:numFmt formatCode="General" sourceLinked="1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dk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497520800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lt1"/>
        </a:gs>
        <a:gs pos="39000">
          <a:schemeClr val="lt1"/>
        </a:gs>
        <a:gs pos="100000">
          <a:schemeClr val="lt1">
            <a:lumMod val="75000"/>
          </a:schemeClr>
        </a:gs>
      </a:gsLst>
      <a:path path="circle">
        <a:fillToRect l="50000" t="-80000" r="50000" b="180000"/>
      </a:path>
      <a:tileRect/>
    </a:gradFill>
    <a:ln w="9525" cap="flat" cmpd="sng" algn="ctr">
      <a:solidFill>
        <a:schemeClr val="dk1">
          <a:lumMod val="25000"/>
          <a:lumOff val="75000"/>
        </a:schemeClr>
      </a:solidFill>
      <a:round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the Data.xlsx]Query 2!PivotTable6</c:name>
    <c:fmtId val="3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Revenue</a:t>
            </a:r>
            <a:r>
              <a:rPr lang="en-US" baseline="0"/>
              <a:t> by Region</a:t>
            </a:r>
            <a:endParaRPr lang="en-US"/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5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1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ctr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1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13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  <c:pivotFmt>
        <c:idx val="14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  <a:sp3d/>
        </c:spPr>
      </c:pivotFmt>
    </c:pivotFmts>
    <c:view3D>
      <c:rotX val="30"/>
      <c:rotY val="0"/>
      <c:depthPercent val="100"/>
      <c:rAngAx val="0"/>
    </c:view3D>
    <c:floor>
      <c:thickness val="0"/>
      <c:spPr>
        <a:noFill/>
        <a:ln>
          <a:noFill/>
        </a:ln>
        <a:effectLst/>
        <a:sp3d/>
      </c:spPr>
    </c:floor>
    <c:sideWall>
      <c:thickness val="0"/>
      <c:spPr>
        <a:noFill/>
        <a:ln>
          <a:noFill/>
        </a:ln>
        <a:effectLst/>
        <a:sp3d/>
      </c:spPr>
    </c:sideWall>
    <c:backWall>
      <c:thickness val="0"/>
      <c:spPr>
        <a:noFill/>
        <a:ln>
          <a:noFill/>
        </a:ln>
        <a:effectLst/>
        <a:sp3d/>
      </c:spPr>
    </c:backWall>
    <c:plotArea>
      <c:layout/>
      <c:pie3DChart>
        <c:varyColors val="1"/>
        <c:ser>
          <c:idx val="0"/>
          <c:order val="0"/>
          <c:tx>
            <c:strRef>
              <c:f>'Query 2'!$F$2</c:f>
              <c:strCache>
                <c:ptCount val="1"/>
                <c:pt idx="0">
                  <c:v>Total</c:v>
                </c:pt>
              </c:strCache>
            </c:strRef>
          </c:tx>
          <c:dPt>
            <c:idx val="0"/>
            <c:bubble3D val="0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1-C4F8-473D-8A2B-1186306EB9A8}"/>
              </c:ext>
            </c:extLst>
          </c:dPt>
          <c:dPt>
            <c:idx val="1"/>
            <c:bubble3D val="0"/>
            <c:spPr>
              <a:gradFill rotWithShape="1">
                <a:gsLst>
                  <a:gs pos="0">
                    <a:schemeClr val="accent2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2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2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3-C4F8-473D-8A2B-1186306EB9A8}"/>
              </c:ext>
            </c:extLst>
          </c:dPt>
          <c:dPt>
            <c:idx val="2"/>
            <c:bubble3D val="0"/>
            <c:spPr>
              <a:gradFill rotWithShape="1">
                <a:gsLst>
                  <a:gs pos="0">
                    <a:schemeClr val="accent3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3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3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5-C4F8-473D-8A2B-1186306EB9A8}"/>
              </c:ext>
            </c:extLst>
          </c:dPt>
          <c:dPt>
            <c:idx val="3"/>
            <c:bubble3D val="0"/>
            <c:spPr>
              <a:gradFill rotWithShape="1">
                <a:gsLst>
                  <a:gs pos="0">
                    <a:schemeClr val="accent4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4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4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>
                <a:noFill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  <a:sp3d/>
            </c:spPr>
            <c:extLst>
              <c:ext xmlns:c16="http://schemas.microsoft.com/office/drawing/2014/chart" uri="{C3380CC4-5D6E-409C-BE32-E72D297353CC}">
                <c16:uniqueId val="{00000007-C4F8-473D-8A2B-1186306EB9A8}"/>
              </c:ext>
            </c:extLst>
          </c:dPt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ctr"/>
            <c:showLegendKey val="0"/>
            <c:showVal val="1"/>
            <c:showCatName val="0"/>
            <c:showSerName val="0"/>
            <c:showPercent val="0"/>
            <c:showBubbleSize val="0"/>
            <c:showLeaderLines val="1"/>
            <c:leaderLines>
              <c:spPr>
                <a:ln w="9525">
                  <a:solidFill>
                    <a:schemeClr val="lt1">
                      <a:lumMod val="95000"/>
                      <a:alpha val="54000"/>
                    </a:schemeClr>
                  </a:solidFill>
                </a:ln>
                <a:effectLst/>
              </c:spPr>
            </c:leaderLines>
            <c:extLst>
              <c:ext xmlns:c15="http://schemas.microsoft.com/office/drawing/2012/chart" uri="{CE6537A1-D6FC-4f65-9D91-7224C49458BB}"/>
            </c:extLst>
          </c:dLbls>
          <c:cat>
            <c:strRef>
              <c:f>'Query 2'!$E$3:$E$7</c:f>
              <c:strCache>
                <c:ptCount val="4"/>
                <c:pt idx="0">
                  <c:v>Asia</c:v>
                </c:pt>
                <c:pt idx="1">
                  <c:v>Europe</c:v>
                </c:pt>
                <c:pt idx="2">
                  <c:v>Middle East</c:v>
                </c:pt>
                <c:pt idx="3">
                  <c:v>North America</c:v>
                </c:pt>
              </c:strCache>
            </c:strRef>
          </c:cat>
          <c:val>
            <c:numRef>
              <c:f>'Query 2'!$F$3:$F$7</c:f>
              <c:numCache>
                <c:formatCode>General</c:formatCode>
                <c:ptCount val="4"/>
                <c:pt idx="0">
                  <c:v>8175200</c:v>
                </c:pt>
                <c:pt idx="1">
                  <c:v>8112312</c:v>
                </c:pt>
                <c:pt idx="2">
                  <c:v>8301844</c:v>
                </c:pt>
                <c:pt idx="3">
                  <c:v>8277218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8-C4F8-473D-8A2B-1186306EB9A8}"/>
            </c:ext>
          </c:extLst>
        </c:ser>
        <c:dLbls>
          <c:dLblPos val="ctr"/>
          <c:showLegendKey val="0"/>
          <c:showVal val="1"/>
          <c:showCatName val="0"/>
          <c:showSerName val="0"/>
          <c:showPercent val="0"/>
          <c:showBubbleSize val="0"/>
          <c:showLeaderLines val="1"/>
        </c:dLbls>
      </c:pie3DChart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the Data.xlsx]Query 5!PivotTable12</c:name>
    <c:fmtId val="6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Most Satisfied Category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areaChart>
        <c:grouping val="stacked"/>
        <c:varyColors val="0"/>
        <c:ser>
          <c:idx val="0"/>
          <c:order val="0"/>
          <c:tx>
            <c:strRef>
              <c:f>'Query 5'!$G$2</c:f>
              <c:strCache>
                <c:ptCount val="1"/>
                <c:pt idx="0">
                  <c:v>Total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cat>
            <c:strRef>
              <c:f>'Query 5'!$F$3:$F$9</c:f>
              <c:strCache>
                <c:ptCount val="6"/>
                <c:pt idx="0">
                  <c:v>Beauty</c:v>
                </c:pt>
                <c:pt idx="1">
                  <c:v>Books</c:v>
                </c:pt>
                <c:pt idx="2">
                  <c:v>Electronics</c:v>
                </c:pt>
                <c:pt idx="3">
                  <c:v>Fashion</c:v>
                </c:pt>
                <c:pt idx="4">
                  <c:v>Home &amp; Kitchen</c:v>
                </c:pt>
                <c:pt idx="5">
                  <c:v>Sports</c:v>
                </c:pt>
              </c:strCache>
            </c:strRef>
          </c:cat>
          <c:val>
            <c:numRef>
              <c:f>'Query 5'!$G$3:$G$9</c:f>
              <c:numCache>
                <c:formatCode>General</c:formatCode>
                <c:ptCount val="6"/>
                <c:pt idx="0">
                  <c:v>2.9849999999999999</c:v>
                </c:pt>
                <c:pt idx="1">
                  <c:v>3.02</c:v>
                </c:pt>
                <c:pt idx="2">
                  <c:v>2.9910000000000001</c:v>
                </c:pt>
                <c:pt idx="3">
                  <c:v>2.988</c:v>
                </c:pt>
                <c:pt idx="4">
                  <c:v>2.9969999999999999</c:v>
                </c:pt>
                <c:pt idx="5">
                  <c:v>2.9969999999999999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F065-498C-9D32-0042307DACC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axId val="1071479664"/>
        <c:axId val="1071475088"/>
      </c:areaChart>
      <c:catAx>
        <c:axId val="107147966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1475088"/>
        <c:crosses val="autoZero"/>
        <c:auto val="1"/>
        <c:lblAlgn val="ctr"/>
        <c:lblOffset val="100"/>
        <c:noMultiLvlLbl val="0"/>
      </c:catAx>
      <c:valAx>
        <c:axId val="1071475088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071479664"/>
        <c:crosses val="autoZero"/>
        <c:crossBetween val="midCat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the Data.xlsx]Query 6!PivotTable13</c:name>
    <c:fmtId val="3"/>
  </c:pivotSource>
  <c:chart>
    <c:title>
      <c:tx>
        <c:rich>
          <a:bodyPr rot="0" spcFirstLastPara="1" vertOverflow="ellipsis" vert="horz" wrap="square" anchor="ctr" anchorCtr="1"/>
          <a:lstStyle/>
          <a:p>
            <a:pPr>
              <a:defRPr sz="1600" b="1" i="0" u="none" strike="noStrike" kern="1200" spc="100" baseline="0">
                <a:solidFill>
                  <a:schemeClr val="lt1">
                    <a:lumMod val="95000"/>
                  </a:schemeClr>
                </a:solidFill>
                <a:effectLst>
                  <a:outerShdw blurRad="50800" dist="38100" dir="5400000" algn="t" rotWithShape="0">
                    <a:prstClr val="black">
                      <a:alpha val="40000"/>
                    </a:prstClr>
                  </a:outerShdw>
                </a:effectLst>
                <a:latin typeface="+mn-lt"/>
                <a:ea typeface="+mn-ea"/>
                <a:cs typeface="+mn-cs"/>
              </a:defRPr>
            </a:pPr>
            <a:r>
              <a:rPr lang="en-US"/>
              <a:t>Top 10 Orders</a:t>
            </a:r>
          </a:p>
        </c:rich>
      </c:tx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1600" b="1" i="0" u="none" strike="noStrike" kern="1200" spc="100" baseline="0">
              <a:solidFill>
                <a:schemeClr val="lt1">
                  <a:lumMod val="95000"/>
                </a:scheme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+mn-lt"/>
              <a:ea typeface="+mn-ea"/>
              <a:cs typeface="+mn-cs"/>
            </a:defRPr>
          </a:pPr>
          <a:endParaRPr lang="en-US"/>
        </a:p>
      </c:txPr>
    </c:title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dLbl>
          <c:idx val="0"/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dLblPos val="inEnd"/>
          <c:showLegendKey val="0"/>
          <c:showVal val="1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'Query 6'!$G$1</c:f>
              <c:strCache>
                <c:ptCount val="1"/>
                <c:pt idx="0">
                  <c:v>Total</c:v>
                </c:pt>
              </c:strCache>
            </c:strRef>
          </c:tx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dLbls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lIns="38100" tIns="19050" rIns="38100" bIns="19050" anchor="ctr" anchorCtr="1">
                <a:spAutoFit/>
              </a:bodyPr>
              <a:lstStyle/>
              <a:p>
                <a:pPr>
                  <a:defRPr sz="900" b="0" i="0" u="none" strike="noStrike" kern="1200" baseline="0">
                    <a:solidFill>
                      <a:schemeClr val="lt1">
                        <a:lumMod val="85000"/>
                      </a:schemeClr>
                    </a:solidFill>
                    <a:latin typeface="+mn-lt"/>
                    <a:ea typeface="+mn-ea"/>
                    <a:cs typeface="+mn-cs"/>
                  </a:defRPr>
                </a:pPr>
                <a:endParaRPr lang="en-US"/>
              </a:p>
            </c:txPr>
            <c:dLblPos val="inEnd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>
                      <a:solidFill>
                        <a:schemeClr val="lt1">
                          <a:lumMod val="95000"/>
                          <a:alpha val="54000"/>
                        </a:schemeClr>
                      </a:solidFill>
                    </a:ln>
                    <a:effectLst/>
                  </c:spPr>
                </c15:leaderLines>
              </c:ext>
            </c:extLst>
          </c:dLbls>
          <c:errBars>
            <c:errBarType val="both"/>
            <c:errValType val="stdErr"/>
            <c:noEndCap val="0"/>
            <c:spPr>
              <a:noFill/>
              <a:ln w="9525" cap="flat" cmpd="sng" algn="ctr">
                <a:solidFill>
                  <a:schemeClr val="lt1">
                    <a:lumMod val="95000"/>
                  </a:schemeClr>
                </a:solidFill>
                <a:round/>
              </a:ln>
              <a:effectLst/>
            </c:spPr>
          </c:errBars>
          <c:cat>
            <c:multiLvlStrRef>
              <c:f>'Query 6'!$F$2:$F$17</c:f>
              <c:multiLvlStrCache>
                <c:ptCount val="10"/>
                <c:lvl>
                  <c:pt idx="0">
                    <c:v>10794</c:v>
                  </c:pt>
                  <c:pt idx="1">
                    <c:v>32944</c:v>
                  </c:pt>
                  <c:pt idx="2">
                    <c:v>33029</c:v>
                  </c:pt>
                  <c:pt idx="3">
                    <c:v>10450</c:v>
                  </c:pt>
                  <c:pt idx="4">
                    <c:v>30742</c:v>
                  </c:pt>
                  <c:pt idx="5">
                    <c:v>12128</c:v>
                  </c:pt>
                  <c:pt idx="6">
                    <c:v>12835</c:v>
                  </c:pt>
                  <c:pt idx="7">
                    <c:v>23880</c:v>
                  </c:pt>
                  <c:pt idx="8">
                    <c:v>18858</c:v>
                  </c:pt>
                  <c:pt idx="9">
                    <c:v>27833</c:v>
                  </c:pt>
                </c:lvl>
                <c:lvl>
                  <c:pt idx="0">
                    <c:v>Beauty</c:v>
                  </c:pt>
                  <c:pt idx="1">
                    <c:v>Books</c:v>
                  </c:pt>
                  <c:pt idx="3">
                    <c:v>Electronics</c:v>
                  </c:pt>
                  <c:pt idx="5">
                    <c:v>Home &amp; Kitchen</c:v>
                  </c:pt>
                  <c:pt idx="8">
                    <c:v>Sports</c:v>
                  </c:pt>
                </c:lvl>
              </c:multiLvlStrCache>
            </c:multiLvlStrRef>
          </c:cat>
          <c:val>
            <c:numRef>
              <c:f>'Query 6'!$G$2:$G$17</c:f>
              <c:numCache>
                <c:formatCode>General</c:formatCode>
                <c:ptCount val="10"/>
                <c:pt idx="0">
                  <c:v>2498.85</c:v>
                </c:pt>
                <c:pt idx="1">
                  <c:v>2492.5</c:v>
                </c:pt>
                <c:pt idx="2">
                  <c:v>2483.5500000000002</c:v>
                </c:pt>
                <c:pt idx="3">
                  <c:v>2485.85</c:v>
                </c:pt>
                <c:pt idx="4">
                  <c:v>2492.3000000000002</c:v>
                </c:pt>
                <c:pt idx="5">
                  <c:v>2493.8000000000002</c:v>
                </c:pt>
                <c:pt idx="6">
                  <c:v>2488.5</c:v>
                </c:pt>
                <c:pt idx="7">
                  <c:v>2493.0500000000002</c:v>
                </c:pt>
                <c:pt idx="8">
                  <c:v>2487.3000000000002</c:v>
                </c:pt>
                <c:pt idx="9">
                  <c:v>2499.5500000000002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001A-4C3F-83CE-F4B8083DDE5B}"/>
            </c:ext>
          </c:extLst>
        </c:ser>
        <c:dLbls>
          <c:dLblPos val="inEnd"/>
          <c:showLegendKey val="0"/>
          <c:showVal val="1"/>
          <c:showCatName val="0"/>
          <c:showSerName val="0"/>
          <c:showPercent val="0"/>
          <c:showBubbleSize val="0"/>
        </c:dLbls>
        <c:gapWidth val="100"/>
        <c:overlap val="-24"/>
        <c:axId val="1172915856"/>
        <c:axId val="1172916272"/>
      </c:barChart>
      <c:catAx>
        <c:axId val="1172915856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2916272"/>
        <c:crosses val="autoZero"/>
        <c:auto val="1"/>
        <c:lblAlgn val="ctr"/>
        <c:lblOffset val="100"/>
        <c:noMultiLvlLbl val="0"/>
      </c:catAx>
      <c:valAx>
        <c:axId val="1172916272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172915856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the Data.xlsx]Query 7!PivotTable3</c:name>
    <c:fmtId val="3"/>
  </c:pivotSource>
  <c:chart>
    <c:autoTitleDeleted val="0"/>
    <c:pivotFmts>
      <c:pivotFmt>
        <c:idx val="0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>
            <a:noFill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none"/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gradFill rotWithShape="1">
            <a:gsLst>
              <a:gs pos="0">
                <a:schemeClr val="accent1">
                  <a:satMod val="103000"/>
                  <a:lumMod val="102000"/>
                  <a:tint val="94000"/>
                </a:schemeClr>
              </a:gs>
              <a:gs pos="50000">
                <a:schemeClr val="accent1">
                  <a:satMod val="110000"/>
                  <a:lumMod val="100000"/>
                  <a:shade val="100000"/>
                </a:schemeClr>
              </a:gs>
              <a:gs pos="100000">
                <a:schemeClr val="accent1">
                  <a:lumMod val="99000"/>
                  <a:satMod val="120000"/>
                  <a:shade val="78000"/>
                </a:schemeClr>
              </a:gs>
            </a:gsLst>
            <a:lin ang="5400000" scaled="0"/>
          </a:gradFill>
          <a:ln w="34925" cap="rnd">
            <a:solidFill>
              <a:schemeClr val="accent1"/>
            </a:solidFill>
            <a:round/>
          </a:ln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c:spPr>
        <c:marker>
          <c:symbol val="circle"/>
          <c:size val="6"/>
          <c:spPr>
            <a:gradFill rotWithShape="1">
              <a:gsLst>
                <a:gs pos="0">
                  <a:schemeClr val="accent1">
                    <a:satMod val="103000"/>
                    <a:lumMod val="102000"/>
                    <a:tint val="94000"/>
                  </a:schemeClr>
                </a:gs>
                <a:gs pos="50000">
                  <a:schemeClr val="accent1">
                    <a:satMod val="110000"/>
                    <a:lumMod val="100000"/>
                    <a:shade val="100000"/>
                  </a:schemeClr>
                </a:gs>
                <a:gs pos="100000">
                  <a:schemeClr val="accent1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 w="9525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lt1">
                      <a:lumMod val="8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barChart>
        <c:barDir val="col"/>
        <c:grouping val="clustered"/>
        <c:varyColors val="0"/>
        <c:ser>
          <c:idx val="1"/>
          <c:order val="1"/>
          <c:tx>
            <c:strRef>
              <c:f>'Query 7'!$O$2</c:f>
              <c:strCache>
                <c:ptCount val="1"/>
                <c:pt idx="0">
                  <c:v>Sum of quantity_sold</c:v>
                </c:pt>
              </c:strCache>
            </c:strRef>
          </c:tx>
          <c:spPr>
            <a:gradFill rotWithShape="1">
              <a:gsLst>
                <a:gs pos="0">
                  <a:schemeClr val="accent2">
                    <a:satMod val="103000"/>
                    <a:lumMod val="102000"/>
                    <a:tint val="94000"/>
                  </a:schemeClr>
                </a:gs>
                <a:gs pos="50000">
                  <a:schemeClr val="accent2">
                    <a:satMod val="110000"/>
                    <a:lumMod val="100000"/>
                    <a:shade val="100000"/>
                  </a:schemeClr>
                </a:gs>
                <a:gs pos="100000">
                  <a:schemeClr val="accent2">
                    <a:lumMod val="99000"/>
                    <a:satMod val="120000"/>
                    <a:shade val="78000"/>
                  </a:schemeClr>
                </a:gs>
              </a:gsLst>
              <a:lin ang="5400000" scaled="0"/>
            </a:gradFill>
            <a:ln>
              <a:noFill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invertIfNegative val="0"/>
          <c:cat>
            <c:strRef>
              <c:f>'Query 7'!$M$3:$M$9</c:f>
              <c:strCache>
                <c:ptCount val="6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30</c:v>
                </c:pt>
              </c:strCache>
            </c:strRef>
          </c:cat>
          <c:val>
            <c:numRef>
              <c:f>'Query 7'!$O$3:$O$9</c:f>
              <c:numCache>
                <c:formatCode>General</c:formatCode>
                <c:ptCount val="6"/>
                <c:pt idx="0">
                  <c:v>24537</c:v>
                </c:pt>
                <c:pt idx="1">
                  <c:v>25448</c:v>
                </c:pt>
                <c:pt idx="2">
                  <c:v>24901</c:v>
                </c:pt>
                <c:pt idx="3">
                  <c:v>24958</c:v>
                </c:pt>
                <c:pt idx="4">
                  <c:v>25272</c:v>
                </c:pt>
                <c:pt idx="5">
                  <c:v>24854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8CBF-4DA0-A123-99144B05B8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219"/>
        <c:axId val="1363422000"/>
        <c:axId val="1363420336"/>
      </c:barChart>
      <c:lineChart>
        <c:grouping val="stacked"/>
        <c:varyColors val="0"/>
        <c:ser>
          <c:idx val="0"/>
          <c:order val="0"/>
          <c:tx>
            <c:strRef>
              <c:f>'Query 7'!$N$2</c:f>
              <c:strCache>
                <c:ptCount val="1"/>
                <c:pt idx="0">
                  <c:v>Sum of total_revenue</c:v>
                </c:pt>
              </c:strCache>
            </c:strRef>
          </c:tx>
          <c:spPr>
            <a:ln w="34925" cap="rnd">
              <a:solidFill>
                <a:schemeClr val="accent1"/>
              </a:solidFill>
              <a:round/>
            </a:ln>
            <a:effectLst>
              <a:outerShdw blurRad="57150" dist="19050" dir="5400000" algn="ctr" rotWithShape="0">
                <a:srgbClr val="000000">
                  <a:alpha val="63000"/>
                </a:srgbClr>
              </a:outerShdw>
            </a:effectLst>
          </c:spPr>
          <c:marker>
            <c:symbol val="circle"/>
            <c:size val="6"/>
            <c:spPr>
              <a:gradFill rotWithShape="1">
                <a:gsLst>
                  <a:gs pos="0">
                    <a:schemeClr val="accent1">
                      <a:satMod val="103000"/>
                      <a:lumMod val="102000"/>
                      <a:tint val="94000"/>
                    </a:schemeClr>
                  </a:gs>
                  <a:gs pos="50000">
                    <a:schemeClr val="accent1">
                      <a:satMod val="110000"/>
                      <a:lumMod val="100000"/>
                      <a:shade val="100000"/>
                    </a:schemeClr>
                  </a:gs>
                  <a:gs pos="100000">
                    <a:schemeClr val="accent1">
                      <a:lumMod val="99000"/>
                      <a:satMod val="120000"/>
                      <a:shade val="78000"/>
                    </a:schemeClr>
                  </a:gs>
                </a:gsLst>
                <a:lin ang="5400000" scaled="0"/>
              </a:gradFill>
              <a:ln w="9525">
                <a:solidFill>
                  <a:schemeClr val="accent1"/>
                </a:solidFill>
                <a:round/>
              </a:ln>
              <a:effectLst>
                <a:outerShdw blurRad="57150" dist="19050" dir="5400000" algn="ctr" rotWithShape="0">
                  <a:srgbClr val="000000">
                    <a:alpha val="63000"/>
                  </a:srgbClr>
                </a:outerShdw>
              </a:effectLst>
            </c:spPr>
          </c:marker>
          <c:cat>
            <c:strRef>
              <c:f>'Query 7'!$M$3:$M$9</c:f>
              <c:strCache>
                <c:ptCount val="6"/>
                <c:pt idx="0">
                  <c:v>0</c:v>
                </c:pt>
                <c:pt idx="1">
                  <c:v>5</c:v>
                </c:pt>
                <c:pt idx="2">
                  <c:v>10</c:v>
                </c:pt>
                <c:pt idx="3">
                  <c:v>15</c:v>
                </c:pt>
                <c:pt idx="4">
                  <c:v>20</c:v>
                </c:pt>
                <c:pt idx="5">
                  <c:v>30</c:v>
                </c:pt>
              </c:strCache>
            </c:strRef>
          </c:cat>
          <c:val>
            <c:numRef>
              <c:f>'Query 7'!$N$3:$N$9</c:f>
              <c:numCache>
                <c:formatCode>General</c:formatCode>
                <c:ptCount val="6"/>
                <c:pt idx="0">
                  <c:v>6154055.3099999819</c:v>
                </c:pt>
                <c:pt idx="1">
                  <c:v>6182826.8999999883</c:v>
                </c:pt>
                <c:pt idx="2">
                  <c:v>5732411.4700000007</c:v>
                </c:pt>
                <c:pt idx="3">
                  <c:v>5322103.9100000039</c:v>
                </c:pt>
                <c:pt idx="4">
                  <c:v>5128525.230000006</c:v>
                </c:pt>
                <c:pt idx="5">
                  <c:v>4346650.919999985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8CBF-4DA0-A123-99144B05B837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363417840"/>
        <c:axId val="1363405776"/>
      </c:lineChart>
      <c:catAx>
        <c:axId val="1363417840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12700" cap="flat" cmpd="sng" algn="ctr">
            <a:solidFill>
              <a:schemeClr val="lt1">
                <a:lumMod val="95000"/>
                <a:alpha val="54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63405776"/>
        <c:crosses val="autoZero"/>
        <c:auto val="1"/>
        <c:lblAlgn val="ctr"/>
        <c:lblOffset val="100"/>
        <c:noMultiLvlLbl val="0"/>
      </c:catAx>
      <c:valAx>
        <c:axId val="136340577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lt1">
                  <a:lumMod val="95000"/>
                  <a:alpha val="10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63417840"/>
        <c:crosses val="autoZero"/>
        <c:crossBetween val="between"/>
      </c:valAx>
      <c:valAx>
        <c:axId val="1363420336"/>
        <c:scaling>
          <c:orientation val="minMax"/>
        </c:scaling>
        <c:delete val="0"/>
        <c:axPos val="r"/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lt1">
                    <a:lumMod val="8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363422000"/>
        <c:crosses val="max"/>
        <c:crossBetween val="between"/>
      </c:valAx>
      <c:catAx>
        <c:axId val="1363422000"/>
        <c:scaling>
          <c:orientation val="minMax"/>
        </c:scaling>
        <c:delete val="1"/>
        <c:axPos val="b"/>
        <c:numFmt formatCode="General" sourceLinked="1"/>
        <c:majorTickMark val="none"/>
        <c:minorTickMark val="none"/>
        <c:tickLblPos val="nextTo"/>
        <c:crossAx val="1363420336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lt1">
                  <a:lumMod val="8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gradFill flip="none" rotWithShape="1">
      <a:gsLst>
        <a:gs pos="0">
          <a:schemeClr val="dk1">
            <a:lumMod val="65000"/>
            <a:lumOff val="35000"/>
          </a:schemeClr>
        </a:gs>
        <a:gs pos="100000">
          <a:schemeClr val="dk1">
            <a:lumMod val="85000"/>
            <a:lumOff val="15000"/>
          </a:schemeClr>
        </a:gs>
      </a:gsLst>
      <a:path path="circle">
        <a:fillToRect l="50000" t="50000" r="50000" b="50000"/>
      </a:path>
      <a:tileRect/>
    </a:gradFill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pivotSource>
    <c:name>[Visualising of the Data.xlsx]Query 9!PivotTable4</c:name>
    <c:fmtId val="7"/>
  </c:pivotSource>
  <c:chart>
    <c:autoTitleDeleted val="0"/>
    <c:pivotFmts>
      <c:pivotFmt>
        <c:idx val="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3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4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5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6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7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8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9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0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1"/>
        <c:spPr>
          <a:solidFill>
            <a:schemeClr val="accent1"/>
          </a:solidFill>
          <a:ln>
            <a:noFill/>
          </a:ln>
          <a:effectLst/>
        </c:spPr>
        <c:marker>
          <c:symbol val="none"/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2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3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4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5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6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7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8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19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0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1"/>
            </a:solidFill>
            <a:ln w="9525">
              <a:solidFill>
                <a:schemeClr val="accent1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  <c:pivotFmt>
        <c:idx val="21"/>
        <c:spPr>
          <a:solidFill>
            <a:schemeClr val="accent1"/>
          </a:solidFill>
          <a:ln w="28575" cap="rnd">
            <a:solidFill>
              <a:schemeClr val="accent1"/>
            </a:solidFill>
            <a:round/>
          </a:ln>
          <a:effectLst/>
        </c:spPr>
        <c:marker>
          <c:symbol val="circle"/>
          <c:size val="5"/>
          <c:spPr>
            <a:solidFill>
              <a:schemeClr val="accent2"/>
            </a:solidFill>
            <a:ln w="9525">
              <a:solidFill>
                <a:schemeClr val="accent2"/>
              </a:solidFill>
            </a:ln>
            <a:effectLst/>
          </c:spPr>
        </c:marker>
        <c:dLbl>
          <c:idx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lIns="38100" tIns="19050" rIns="38100" bIns="19050" anchor="ctr" anchorCtr="1">
              <a:spAutoFit/>
            </a:bodyPr>
            <a:lstStyle/>
            <a:p>
              <a:pPr>
                <a:defRPr sz="900" b="0" i="0" u="none" strike="noStrike" kern="1200" baseline="0">
                  <a:solidFill>
                    <a:schemeClr val="tx1">
                      <a:lumMod val="75000"/>
                      <a:lumOff val="25000"/>
                    </a:schemeClr>
                  </a:solidFill>
                  <a:latin typeface="+mn-lt"/>
                  <a:ea typeface="+mn-ea"/>
                  <a:cs typeface="+mn-cs"/>
                </a:defRPr>
              </a:pPr>
              <a:endParaRPr lang="en-US"/>
            </a:p>
          </c:txPr>
          <c:showLegendKey val="0"/>
          <c:showVal val="0"/>
          <c:showCatName val="0"/>
          <c:showSerName val="0"/>
          <c:showPercent val="0"/>
          <c:showBubbleSize val="0"/>
          <c:extLst>
            <c:ext xmlns:c15="http://schemas.microsoft.com/office/drawing/2012/chart" uri="{CE6537A1-D6FC-4f65-9D91-7224C49458BB}"/>
          </c:extLst>
        </c:dLbl>
      </c:pivotFmt>
    </c:pivotFmts>
    <c:plotArea>
      <c:layout/>
      <c:lineChart>
        <c:grouping val="standard"/>
        <c:varyColors val="0"/>
        <c:ser>
          <c:idx val="0"/>
          <c:order val="0"/>
          <c:tx>
            <c:strRef>
              <c:f>'Query 9'!$F$2:$F$3</c:f>
              <c:strCache>
                <c:ptCount val="1"/>
                <c:pt idx="0">
                  <c:v>2022</c:v>
                </c:pt>
              </c:strCache>
            </c:strRef>
          </c:tx>
          <c:spPr>
            <a:ln w="28575" cap="rnd">
              <a:solidFill>
                <a:schemeClr val="accent1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1"/>
              </a:solidFill>
              <a:ln w="9525">
                <a:solidFill>
                  <a:schemeClr val="accent1"/>
                </a:solidFill>
              </a:ln>
              <a:effectLst/>
            </c:spPr>
          </c:marker>
          <c:cat>
            <c:strRef>
              <c:f>'Query 9'!$E$4:$E$16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'Query 9'!$F$4:$F$16</c:f>
              <c:numCache>
                <c:formatCode>General</c:formatCode>
                <c:ptCount val="12"/>
                <c:pt idx="0">
                  <c:v>1419752</c:v>
                </c:pt>
                <c:pt idx="1">
                  <c:v>1266714</c:v>
                </c:pt>
                <c:pt idx="2">
                  <c:v>1392585</c:v>
                </c:pt>
                <c:pt idx="3">
                  <c:v>1371956</c:v>
                </c:pt>
                <c:pt idx="4">
                  <c:v>1374780</c:v>
                </c:pt>
                <c:pt idx="5">
                  <c:v>1352125</c:v>
                </c:pt>
                <c:pt idx="6">
                  <c:v>1346089</c:v>
                </c:pt>
                <c:pt idx="7">
                  <c:v>1449308</c:v>
                </c:pt>
                <c:pt idx="8">
                  <c:v>1403967</c:v>
                </c:pt>
                <c:pt idx="9">
                  <c:v>1334818</c:v>
                </c:pt>
                <c:pt idx="10">
                  <c:v>1291100</c:v>
                </c:pt>
                <c:pt idx="11">
                  <c:v>1386210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0-9559-4704-8FAF-AE0B83D048F0}"/>
            </c:ext>
          </c:extLst>
        </c:ser>
        <c:ser>
          <c:idx val="1"/>
          <c:order val="1"/>
          <c:tx>
            <c:strRef>
              <c:f>'Query 9'!$G$2:$G$3</c:f>
              <c:strCache>
                <c:ptCount val="1"/>
                <c:pt idx="0">
                  <c:v>2023</c:v>
                </c:pt>
              </c:strCache>
            </c:strRef>
          </c:tx>
          <c:spPr>
            <a:ln w="28575" cap="rnd">
              <a:solidFill>
                <a:schemeClr val="accent2"/>
              </a:solidFill>
              <a:round/>
            </a:ln>
            <a:effectLst/>
          </c:spPr>
          <c:marker>
            <c:symbol val="circle"/>
            <c:size val="5"/>
            <c:spPr>
              <a:solidFill>
                <a:schemeClr val="accent2"/>
              </a:solidFill>
              <a:ln w="9525">
                <a:solidFill>
                  <a:schemeClr val="accent2"/>
                </a:solidFill>
              </a:ln>
              <a:effectLst/>
            </c:spPr>
          </c:marker>
          <c:cat>
            <c:strRef>
              <c:f>'Query 9'!$E$4:$E$16</c:f>
              <c:strCache>
                <c:ptCount val="12"/>
                <c:pt idx="0">
                  <c:v>Jan</c:v>
                </c:pt>
                <c:pt idx="1">
                  <c:v>Feb</c:v>
                </c:pt>
                <c:pt idx="2">
                  <c:v>Mar</c:v>
                </c:pt>
                <c:pt idx="3">
                  <c:v>Apr</c:v>
                </c:pt>
                <c:pt idx="4">
                  <c:v>May</c:v>
                </c:pt>
                <c:pt idx="5">
                  <c:v>Jun</c:v>
                </c:pt>
                <c:pt idx="6">
                  <c:v>Jul</c:v>
                </c:pt>
                <c:pt idx="7">
                  <c:v>Aug</c:v>
                </c:pt>
                <c:pt idx="8">
                  <c:v>Sep</c:v>
                </c:pt>
                <c:pt idx="9">
                  <c:v>Oct</c:v>
                </c:pt>
                <c:pt idx="10">
                  <c:v>Nov</c:v>
                </c:pt>
                <c:pt idx="11">
                  <c:v>Dec</c:v>
                </c:pt>
              </c:strCache>
            </c:strRef>
          </c:cat>
          <c:val>
            <c:numRef>
              <c:f>'Query 9'!$G$4:$G$16</c:f>
              <c:numCache>
                <c:formatCode>General</c:formatCode>
                <c:ptCount val="12"/>
                <c:pt idx="0">
                  <c:v>1464175</c:v>
                </c:pt>
                <c:pt idx="1">
                  <c:v>1238381</c:v>
                </c:pt>
                <c:pt idx="2">
                  <c:v>1366418</c:v>
                </c:pt>
                <c:pt idx="3">
                  <c:v>1307018</c:v>
                </c:pt>
                <c:pt idx="4">
                  <c:v>1431399</c:v>
                </c:pt>
                <c:pt idx="5">
                  <c:v>1394822</c:v>
                </c:pt>
                <c:pt idx="6">
                  <c:v>1442177</c:v>
                </c:pt>
                <c:pt idx="7">
                  <c:v>1396322</c:v>
                </c:pt>
                <c:pt idx="8">
                  <c:v>1341008</c:v>
                </c:pt>
                <c:pt idx="9">
                  <c:v>1425936</c:v>
                </c:pt>
                <c:pt idx="10">
                  <c:v>1334328</c:v>
                </c:pt>
                <c:pt idx="11">
                  <c:v>1335185</c:v>
                </c:pt>
              </c:numCache>
            </c:numRef>
          </c:val>
          <c:smooth val="0"/>
          <c:extLst>
            <c:ext xmlns:c16="http://schemas.microsoft.com/office/drawing/2014/chart" uri="{C3380CC4-5D6E-409C-BE32-E72D297353CC}">
              <c16:uniqueId val="{00000001-9559-4704-8FAF-AE0B83D048F0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marker val="1"/>
        <c:smooth val="0"/>
        <c:axId val="1257392592"/>
        <c:axId val="1257396336"/>
      </c:lineChart>
      <c:catAx>
        <c:axId val="1257392592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7396336"/>
        <c:crosses val="autoZero"/>
        <c:auto val="1"/>
        <c:lblAlgn val="ctr"/>
        <c:lblOffset val="100"/>
        <c:noMultiLvlLbl val="0"/>
      </c:catAx>
      <c:valAx>
        <c:axId val="1257396336"/>
        <c:scaling>
          <c:orientation val="minMax"/>
        </c:scaling>
        <c:delete val="0"/>
        <c:axPos val="l"/>
        <c:majorGridlines>
          <c:spPr>
            <a:ln w="9525" cap="flat" cmpd="sng" algn="ctr">
              <a:solidFill>
                <a:schemeClr val="tx1">
                  <a:lumMod val="15000"/>
                  <a:lumOff val="85000"/>
                </a:schemeClr>
              </a:solidFill>
              <a:round/>
            </a:ln>
            <a:effectLst/>
          </c:spPr>
        </c:majorGridlines>
        <c:numFmt formatCode="General" sourceLinked="1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9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+mn-lt"/>
                <a:ea typeface="+mn-ea"/>
                <a:cs typeface="+mn-cs"/>
              </a:defRPr>
            </a:pPr>
            <a:endParaRPr lang="en-US"/>
          </a:p>
        </c:txPr>
        <c:crossAx val="1257392592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r"/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9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+mn-lt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  <c:showDLblsOverMax val="0"/>
  </c:chart>
  <c:spPr>
    <a:noFill/>
    <a:ln>
      <a:noFill/>
    </a:ln>
    <a:effectLst/>
  </c:spPr>
  <c:txPr>
    <a:bodyPr/>
    <a:lstStyle/>
    <a:p>
      <a:pPr>
        <a:defRPr/>
      </a:pPr>
      <a:endParaRPr lang="en-US"/>
    </a:p>
  </c:txPr>
  <c:externalData r:id="rId3">
    <c:autoUpdate val="0"/>
  </c:externalData>
  <c:extLst>
    <c:ext xmlns:c14="http://schemas.microsoft.com/office/drawing/2007/8/2/chart" uri="{781A3756-C4B2-4CAC-9D66-4F8BD8637D16}">
      <c14:pivotOptions>
        <c14:dropZoneFilter val="1"/>
        <c14:dropZoneCategories val="1"/>
        <c14:dropZoneData val="1"/>
        <c14:dropZoneSeries val="1"/>
        <c14:dropZonesVisible val="1"/>
      </c14:pivotOptions>
    </c:ext>
    <c:ext xmlns:c16="http://schemas.microsoft.com/office/drawing/2014/chart" uri="{E28EC0CA-F0BB-4C9C-879D-F8772B89E7AC}">
      <c16:pivotOptions16>
        <c16:showExpandCollapseFieldButtons val="1"/>
      </c16:pivotOptions16>
    </c:ext>
  </c:extLst>
</c:chartSpace>
</file>

<file path=ppt/charts/chartEx1.xml><?xml version="1.0" encoding="utf-8"?>
<cx:chartSpace xmlns:a="http://schemas.openxmlformats.org/drawingml/2006/main" xmlns:r="http://schemas.openxmlformats.org/officeDocument/2006/relationships" xmlns:cx="http://schemas.microsoft.com/office/drawing/2014/chartex">
  <cx:chartData>
    <cx:externalData r:id="rId1" cx:autoUpdate="0"/>
    <cx:data id="0">
      <cx:strDim type="cat">
        <cx:f>'Query 3'!$A$2:$A$7</cx:f>
        <cx:lvl ptCount="6">
          <cx:pt idx="0">Beauty</cx:pt>
          <cx:pt idx="1">Fashion</cx:pt>
          <cx:pt idx="2">Books</cx:pt>
          <cx:pt idx="3">Electronics</cx:pt>
          <cx:pt idx="4">Sports</cx:pt>
          <cx:pt idx="5">Home &amp; Kitchen</cx:pt>
        </cx:lvl>
      </cx:strDim>
      <cx:numDim type="size">
        <cx:f>'Query 3'!$B$2:$B$7</cx:f>
        <cx:lvl ptCount="6" formatCode="General">
          <cx:pt idx="0">25422</cx:pt>
          <cx:pt idx="1">25089</cx:pt>
          <cx:pt idx="2">25065</cx:pt>
          <cx:pt idx="3">24898</cx:pt>
          <cx:pt idx="4">24753</cx:pt>
          <cx:pt idx="5">24743</cx:pt>
        </cx:lvl>
      </cx:numDim>
    </cx:data>
  </cx:chartData>
  <cx:chart>
    <cx:title pos="t" align="ctr" overlay="0">
      <cx:tx>
        <cx:txData>
          <cx:v>Quantity by Category</cx:v>
        </cx:txData>
      </cx:tx>
      <cx:txPr>
        <a:bodyPr spcFirstLastPara="1" vertOverflow="ellipsis" horzOverflow="overflow" wrap="square" lIns="0" tIns="0" rIns="0" bIns="0" anchor="ctr" anchorCtr="1"/>
        <a:lstStyle/>
        <a:p>
          <a:pPr algn="ctr" rtl="0">
            <a:defRPr/>
          </a:pPr>
          <a:r>
            <a:rPr lang="en-US" sz="1600" b="1" i="0" u="none" strike="noStrike" spc="100" baseline="0">
              <a:solidFill>
                <a:sysClr val="window" lastClr="FFFFFF">
                  <a:lumMod val="95000"/>
                </a:sysClr>
              </a:solidFill>
              <a:effectLst>
                <a:outerShdw blurRad="50800" dist="38100" dir="5400000" algn="t" rotWithShape="0">
                  <a:prstClr val="black">
                    <a:alpha val="40000"/>
                  </a:prstClr>
                </a:outerShdw>
              </a:effectLst>
              <a:latin typeface="Calibri" panose="020F0502020204030204"/>
            </a:rPr>
            <a:t>Quantity by Category</a:t>
          </a:r>
        </a:p>
      </cx:txPr>
    </cx:title>
    <cx:plotArea>
      <cx:plotAreaRegion>
        <cx:series layoutId="treemap" uniqueId="{04513112-0FD0-4223-9F86-AC4B6FC3D567}">
          <cx:tx>
            <cx:txData>
              <cx:f>'Query 3'!$B$1</cx:f>
              <cx:v>quantity_sold</cx:v>
            </cx:txData>
          </cx:tx>
          <cx:dataLabels pos="inEnd">
            <cx:visibility seriesName="0" categoryName="1" value="0"/>
          </cx:dataLabels>
          <cx:dataId val="0"/>
          <cx:layoutPr>
            <cx:parentLabelLayout val="overlapping"/>
          </cx:layoutPr>
        </cx:series>
      </cx:plotAreaRegion>
    </cx:plotArea>
    <cx:legend pos="b" align="ctr" overlay="0"/>
  </cx:chart>
</cx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3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4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5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6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7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5">
  <cs:axisTitle>
    <cs:lnRef idx="0"/>
    <cs:fillRef idx="0"/>
    <cs:effectRef idx="0"/>
    <cs:fontRef idx="minor">
      <a:schemeClr val="dk1">
        <a:lumMod val="75000"/>
        <a:lumOff val="25000"/>
      </a:schemeClr>
    </cs:fontRef>
    <cs:defRPr sz="900" b="1" kern="1200"/>
  </cs:axisTitle>
  <cs:categoryAxis>
    <cs:lnRef idx="0"/>
    <cs:fillRef idx="0"/>
    <cs:effectRef idx="0"/>
    <cs:fontRef idx="minor">
      <a:schemeClr val="dk1">
        <a:lumMod val="75000"/>
        <a:lumOff val="25000"/>
      </a:schemeClr>
    </cs:fontRef>
    <cs:spPr>
      <a:ln w="190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 cap="all" baseline="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lt1"/>
          </a:gs>
          <a:gs pos="39000">
            <a:schemeClr val="lt1"/>
          </a:gs>
          <a:gs pos="100000">
            <a:schemeClr val="lt1">
              <a:lumMod val="75000"/>
            </a:schemeClr>
          </a:gs>
        </a:gsLst>
        <a:path path="circle">
          <a:fillToRect l="50000" t="-80000" r="50000" b="180000"/>
        </a:path>
        <a:tileRect/>
      </a:gradFill>
      <a:ln w="9525" cap="flat" cmpd="sng" algn="ctr">
        <a:solidFill>
          <a:schemeClr val="dk1">
            <a:lumMod val="25000"/>
            <a:lumOff val="75000"/>
          </a:schemeClr>
        </a:solidFill>
        <a:round/>
      </a:ln>
    </cs:spPr>
    <cs:defRPr sz="900" kern="1200"/>
  </cs:chartArea>
  <cs:dataLabel>
    <cs:lnRef idx="0"/>
    <cs:fillRef idx="0"/>
    <cs:effectRef idx="0"/>
    <cs:fontRef idx="minor">
      <a:schemeClr val="lt1"/>
    </cs:fontRef>
    <cs:defRPr sz="900" b="1" i="0" u="none" strike="noStrike" kern="1200" baseline="0"/>
  </cs:dataLabel>
  <cs:dataLabelCallout>
    <cs:lnRef idx="0"/>
    <cs:fillRef idx="0"/>
    <cs:effectRef idx="0"/>
    <cs:fontRef idx="minor">
      <a:schemeClr val="lt1"/>
    </cs:fontRef>
    <cs:spPr>
      <a:solidFill>
        <a:schemeClr val="dk1">
          <a:lumMod val="65000"/>
          <a:lumOff val="35000"/>
          <a:alpha val="75000"/>
        </a:schemeClr>
      </a:solidFill>
    </cs:spPr>
    <cs:defRPr sz="900" b="1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>
  <cs:dataPoint3D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  <a:ln w="9525" cap="flat" cmpd="sng" algn="ctr">
        <a:solidFill>
          <a:schemeClr val="lt1">
            <a:alpha val="50000"/>
          </a:schemeClr>
        </a:solidFill>
        <a:round/>
      </a:ln>
    </cs:spPr>
  </cs:dataPoint3D>
  <cs:dataPointLine>
    <cs:lnRef idx="0">
      <cs:styleClr val="auto"/>
    </cs:lnRef>
    <cs:fillRef idx="0"/>
    <cs:effectRef idx="0"/>
    <cs:fontRef idx="minor">
      <a:schemeClr val="dk1"/>
    </cs:fontRef>
    <cs:spPr>
      <a:ln w="31750" cap="rnd">
        <a:solidFill>
          <a:schemeClr val="phClr">
            <a:alpha val="85000"/>
          </a:schemeClr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dk1"/>
    </cs:fontRef>
    <cs:spPr>
      <a:solidFill>
        <a:schemeClr val="phClr">
          <a:alpha val="85000"/>
        </a:schemeClr>
      </a:solidFill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dk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dk1">
        <a:lumMod val="75000"/>
        <a:lumOff val="25000"/>
      </a:schemeClr>
    </cs:fontRef>
    <cs:spPr>
      <a:ln w="9525">
        <a:solidFill>
          <a:schemeClr val="dk1">
            <a:lumMod val="35000"/>
            <a:lumOff val="65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50000"/>
          <a:lumOff val="50000"/>
        </a:schemeClr>
      </a:solidFill>
      <a:ln w="9525">
        <a:solidFill>
          <a:schemeClr val="dk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dk1"/>
    </cs:fontRef>
    <cs:spPr>
      <a:ln w="9525">
        <a:solidFill>
          <a:schemeClr val="dk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dk1"/>
    </cs:fontRef>
  </cs:floor>
  <cs:gridlineMajor>
    <cs:lnRef idx="0"/>
    <cs:fillRef idx="0"/>
    <cs:effectRef idx="0"/>
    <cs:fontRef idx="minor">
      <a:schemeClr val="dk1"/>
    </cs:fontRef>
    <cs:spPr>
      <a:ln w="9525" cap="flat" cmpd="sng" algn="ctr"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  <a:round/>
      </a:ln>
    </cs:spPr>
  </cs:gridlineMajor>
  <cs:gridlineMinor>
    <cs:lnRef idx="0"/>
    <cs:fillRef idx="0"/>
    <cs:effectRef idx="0"/>
    <cs:fontRef idx="minor">
      <a:schemeClr val="dk1"/>
    </cs:fontRef>
    <cs:spPr>
      <a:ln>
        <a:gradFill>
          <a:gsLst>
            <a:gs pos="100000">
              <a:schemeClr val="dk1">
                <a:lumMod val="95000"/>
                <a:lumOff val="5000"/>
                <a:alpha val="42000"/>
              </a:schemeClr>
            </a:gs>
            <a:gs pos="0">
              <a:schemeClr val="lt1">
                <a:lumMod val="75000"/>
                <a:alpha val="36000"/>
              </a:schemeClr>
            </a:gs>
          </a:gsLst>
          <a:lin ang="5400000" scaled="0"/>
        </a:gradFill>
      </a:ln>
    </cs:spPr>
  </cs:gridlineMinor>
  <cs:hiLo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35000"/>
            <a:lumOff val="65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</a:ln>
    </cs:spPr>
  </cs:leaderLine>
  <cs:legend>
    <cs:lnRef idx="0"/>
    <cs:fillRef idx="0"/>
    <cs:effectRef idx="0"/>
    <cs:fontRef idx="minor">
      <a:schemeClr val="dk1">
        <a:lumMod val="75000"/>
        <a:lumOff val="25000"/>
      </a:schemeClr>
    </cs:fontRef>
    <cs:spPr>
      <a:solidFill>
        <a:schemeClr val="lt1">
          <a:lumMod val="95000"/>
          <a:alpha val="39000"/>
        </a:schemeClr>
      </a:solidFill>
    </cs:spPr>
    <cs:defRPr sz="900" kern="1200"/>
  </cs:legend>
  <cs:plotArea>
    <cs:lnRef idx="0"/>
    <cs:fillRef idx="0"/>
    <cs:effectRef idx="0"/>
    <cs:fontRef idx="minor">
      <a:schemeClr val="dk1"/>
    </cs:fontRef>
  </cs:plotArea>
  <cs:plotArea3D>
    <cs:lnRef idx="0"/>
    <cs:fillRef idx="0"/>
    <cs:effectRef idx="0"/>
    <cs:fontRef idx="minor">
      <a:schemeClr val="dk1"/>
    </cs:fontRef>
  </cs:plotArea3D>
  <cs:seriesAxis>
    <cs:lnRef idx="0"/>
    <cs:fillRef idx="0"/>
    <cs:effectRef idx="0"/>
    <cs:fontRef idx="minor">
      <a:schemeClr val="dk1">
        <a:lumMod val="75000"/>
        <a:lumOff val="25000"/>
      </a:schemeClr>
    </cs:fontRef>
    <cs:spPr>
      <a:ln w="31750" cap="flat" cmpd="sng" algn="ctr">
        <a:solidFill>
          <a:schemeClr val="dk1">
            <a:lumMod val="75000"/>
            <a:lumOff val="25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dk1"/>
    </cs:fontRef>
    <cs:spPr>
      <a:ln w="9525">
        <a:solidFill>
          <a:schemeClr val="dk1">
            <a:lumMod val="50000"/>
            <a:lumOff val="50000"/>
          </a:schemeClr>
        </a:solidFill>
        <a:round/>
      </a:ln>
    </cs:spPr>
  </cs:seriesLine>
  <cs:title>
    <cs:lnRef idx="0"/>
    <cs:fillRef idx="0"/>
    <cs:effectRef idx="0"/>
    <cs:fontRef idx="minor">
      <a:schemeClr val="dk1">
        <a:lumMod val="75000"/>
        <a:lumOff val="25000"/>
      </a:schemeClr>
    </cs:fontRef>
    <cs:defRPr sz="1800" b="1" kern="1200" baseline="0"/>
  </cs:title>
  <cs:trendline>
    <cs:lnRef idx="0">
      <cs:styleClr val="auto"/>
    </cs:lnRef>
    <cs:fillRef idx="0"/>
    <cs:effectRef idx="0"/>
    <cs:fontRef idx="minor">
      <a:schemeClr val="dk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dk1">
        <a:lumMod val="75000"/>
        <a:lumOff val="2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dk1">
            <a:lumMod val="65000"/>
            <a:lumOff val="35000"/>
          </a:schemeClr>
        </a:solidFill>
      </a:ln>
    </cs:spPr>
  </cs:upBar>
  <cs:valueAxis>
    <cs:lnRef idx="0"/>
    <cs:fillRef idx="0"/>
    <cs:effectRef idx="0"/>
    <cs:fontRef idx="minor">
      <a:schemeClr val="dk1">
        <a:lumMod val="75000"/>
        <a:lumOff val="25000"/>
      </a:schemeClr>
    </cs:fontRef>
    <cs:spPr>
      <a:ln>
        <a:noFill/>
      </a:ln>
    </cs:spPr>
    <cs:defRPr sz="900" kern="1200"/>
  </cs:valueAxis>
  <cs:wall>
    <cs:lnRef idx="0"/>
    <cs:fillRef idx="0"/>
    <cs:effectRef idx="0"/>
    <cs:fontRef idx="minor">
      <a:schemeClr val="dk1"/>
    </cs:fontRef>
  </cs:wall>
</cs:chartStyle>
</file>

<file path=ppt/charts/style2.xml><?xml version="1.0" encoding="utf-8"?>
<cs:chartStyle xmlns:cs="http://schemas.microsoft.com/office/drawing/2012/chartStyle" xmlns:a="http://schemas.openxmlformats.org/drawingml/2006/main" id="268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3.xml><?xml version="1.0" encoding="utf-8"?>
<cs:chartStyle xmlns:cs="http://schemas.microsoft.com/office/drawing/2012/chartStyle" xmlns:a="http://schemas.openxmlformats.org/drawingml/2006/main" id="415">
  <cs:axisTitle>
    <cs:lnRef idx="0"/>
    <cs:fillRef idx="0"/>
    <cs:effectRef idx="0"/>
    <cs:fontRef idx="minor">
      <a:schemeClr val="lt1">
        <a:lumMod val="95000"/>
      </a:schemeClr>
    </cs:fontRef>
    <cs:spPr>
      <a:solidFill>
        <a:schemeClr val="bg1">
          <a:lumMod val="65000"/>
        </a:schemeClr>
      </a:solidFill>
      <a:ln>
        <a:solidFill>
          <a:schemeClr val="tx1"/>
        </a:solidFill>
      </a:ln>
    </cs:spPr>
    <cs:defRPr sz="900"/>
  </cs:axisTitle>
  <cs:categoryAxis>
    <cs:lnRef idx="0"/>
    <cs:fillRef idx="0"/>
    <cs:effectRef idx="0"/>
    <cs:fontRef idx="minor">
      <a:schemeClr val="lt1">
        <a:lumMod val="9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/>
  </cs:chartArea>
  <cs:dataLabel>
    <cs:lnRef idx="0"/>
    <cs:fillRef idx="0"/>
    <cs:effectRef idx="0"/>
    <cs:fontRef idx="minor">
      <a:schemeClr val="lt1">
        <a:lumMod val="95000"/>
      </a:schemeClr>
    </cs:fontRef>
    <cs:defRPr sz="9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0">
      <cs:styleClr val="auto"/>
    </cs:fillRef>
    <cs:effectRef idx="0"/>
    <cs:fontRef idx="minor">
      <a:schemeClr val="lt1"/>
    </cs:fontRef>
    <cs:spPr>
      <a:gradFill rotWithShape="1">
        <a:gsLst>
          <a:gs pos="0">
            <a:schemeClr val="phClr">
              <a:satMod val="103000"/>
              <a:lumMod val="102000"/>
              <a:tint val="94000"/>
            </a:schemeClr>
          </a:gs>
          <a:gs pos="50000">
            <a:schemeClr val="phClr">
              <a:satMod val="110000"/>
              <a:lumMod val="100000"/>
              <a:shade val="100000"/>
            </a:schemeClr>
          </a:gs>
          <a:gs pos="100000">
            <a:schemeClr val="phClr">
              <a:lumMod val="99000"/>
              <a:satMod val="120000"/>
              <a:shade val="78000"/>
            </a:schemeClr>
          </a:gs>
        </a:gsLst>
        <a:lin ang="5400000" scaled="0"/>
      </a:gradFill>
      <a:ln>
        <a:solidFill>
          <a:schemeClr val="tx1"/>
        </a:solidFill>
      </a:ln>
    </cs:spPr>
  </cs:dataPoint>
  <cs:dataPoint3D>
    <cs:lnRef idx="0"/>
    <cs:fillRef idx="0">
      <cs:styleClr val="auto"/>
    </cs:fillRef>
    <cs:effectRef idx="0"/>
    <cs:fontRef idx="minor">
      <a:schemeClr val="lt1"/>
    </cs:fontRef>
    <cs:spPr>
      <a:solidFill>
        <a:schemeClr val="phClr"/>
      </a:solidFill>
    </cs:spPr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/>
    <cs:fillRef idx="0">
      <cs:styleClr val="auto"/>
    </cs:fillRef>
    <cs:effectRef idx="0"/>
    <cs:fontRef idx="minor">
      <a:schemeClr val="lt1"/>
    </cs:fontRef>
    <cs:spPr>
      <a:solidFill>
        <a:schemeClr val="phClr"/>
      </a:solidFill>
      <a:ln w="9525">
        <a:solidFill>
          <a:schemeClr val="lt1"/>
        </a:solidFill>
      </a:ln>
    </cs:spPr>
  </cs:dataPointMarker>
  <cs:dataPointMarkerLayout symbol="circle" size="6"/>
  <cs:dataPointWireframe>
    <cs:lnRef idx="0">
      <cs:styleClr val="auto"/>
    </cs:lnRef>
    <cs:fillRef idx="0"/>
    <cs:effectRef idx="0"/>
    <cs:fontRef idx="minor">
      <a:schemeClr val="lt1"/>
    </cs:fontRef>
    <cs:spPr>
      <a:ln w="2857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9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10000"/>
            <a:lumOff val="10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95000"/>
      </a:schemeClr>
    </cs:fontRef>
    <cs:defRPr sz="9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9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/>
  </cs:seriesAxis>
  <cs:seriesLine>
    <cs:lnRef idx="0"/>
    <cs:fillRef idx="0"/>
    <cs:effectRef idx="0"/>
    <cs:fontRef idx="minor">
      <a:schemeClr val="lt1"/>
    </cs:fontRef>
    <cs:spPr>
      <a:ln w="9525" cap="flat">
        <a:solidFill>
          <a:srgbClr val="D9D9D9"/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spc="10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  <a:prstDash val="sysDash"/>
      </a:ln>
    </cs:spPr>
  </cs:trendline>
  <cs:trendlineLabel>
    <cs:lnRef idx="0"/>
    <cs:fillRef idx="0"/>
    <cs:effectRef idx="0"/>
    <cs:fontRef idx="minor">
      <a:schemeClr val="lt1">
        <a:lumMod val="95000"/>
      </a:schemeClr>
    </cs:fontRef>
    <cs:defRPr sz="9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95000"/>
      </a:schemeClr>
    </cs:fontRef>
    <cs:defRPr sz="900"/>
  </cs:valueAxis>
  <cs:wall>
    <cs:lnRef idx="0"/>
    <cs:fillRef idx="0"/>
    <cs:effectRef idx="0"/>
    <cs:fontRef idx="minor">
      <a:schemeClr val="lt1"/>
    </cs:fontRef>
  </cs:wall>
</cs:chartStyle>
</file>

<file path=ppt/charts/style4.xml><?xml version="1.0" encoding="utf-8"?>
<cs:chartStyle xmlns:cs="http://schemas.microsoft.com/office/drawing/2012/chartStyle" xmlns:a="http://schemas.openxmlformats.org/drawingml/2006/main" id="283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5.xml><?xml version="1.0" encoding="utf-8"?>
<cs:chartStyle xmlns:cs="http://schemas.microsoft.com/office/drawing/2012/chartStyle" xmlns:a="http://schemas.openxmlformats.org/drawingml/2006/main" id="209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lt1"/>
    </cs:fontRef>
  </cs:dataPoint>
  <cs:dataPoint3D>
    <cs:lnRef idx="0"/>
    <cs:fillRef idx="3">
      <cs:styleClr val="auto"/>
    </cs:fillRef>
    <cs:effectRef idx="3"/>
    <cs:fontRef idx="minor">
      <a:schemeClr val="lt1"/>
    </cs:fontRef>
  </cs:dataPoint3D>
  <cs:dataPointLine>
    <cs:lnRef idx="0">
      <cs:styleClr val="auto"/>
    </cs:lnRef>
    <cs:fillRef idx="3"/>
    <cs:effectRef idx="3"/>
    <cs:fontRef idx="minor">
      <a:schemeClr val="lt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lt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lt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lt1"/>
    </cs:fontRef>
    <cs:spPr>
      <a:solidFill>
        <a:schemeClr val="dk1">
          <a:lumMod val="75000"/>
          <a:lumOff val="25000"/>
        </a:schemeClr>
      </a:solidFill>
      <a:ln w="9525">
        <a:solidFill>
          <a:schemeClr val="lt1">
            <a:lumMod val="95000"/>
            <a:alpha val="54000"/>
          </a:schemeClr>
        </a:solidFill>
      </a:ln>
    </cs:spPr>
  </cs:downBar>
  <cs:drop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dropLine>
  <cs:errorBa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lt1"/>
    </cs:fontRef>
  </cs:floor>
  <cs:gridlineMajor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lt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  <a:prstDash val="dash"/>
      </a:ln>
    </cs:spPr>
  </cs:hiLoLine>
  <cs:leaderLine>
    <cs:lnRef idx="0"/>
    <cs:fillRef idx="0"/>
    <cs:effectRef idx="0"/>
    <cs:fontRef idx="minor">
      <a:schemeClr val="lt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lt1"/>
    </cs:fontRef>
  </cs:plotArea>
  <cs:plotArea3D>
    <cs:lnRef idx="0"/>
    <cs:fillRef idx="0"/>
    <cs:effectRef idx="0"/>
    <cs:fontRef idx="minor">
      <a:schemeClr val="lt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lt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lt1"/>
    </cs:fontRef>
    <cs:spPr>
      <a:solidFill>
        <a:schemeClr val="lt1"/>
      </a:solidFill>
      <a:ln w="9525">
        <a:solidFill>
          <a:schemeClr val="lt1">
            <a:lumMod val="95000"/>
            <a:alpha val="54000"/>
          </a:schemeClr>
        </a:solidFill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lt1"/>
    </cs:fontRef>
  </cs:wall>
</cs:chartStyle>
</file>

<file path=ppt/charts/style6.xml><?xml version="1.0" encoding="utf-8"?>
<cs:chartStyle xmlns:cs="http://schemas.microsoft.com/office/drawing/2012/chartStyle" xmlns:a="http://schemas.openxmlformats.org/drawingml/2006/main" id="328">
  <cs:axisTitle>
    <cs:lnRef idx="0"/>
    <cs:fillRef idx="0"/>
    <cs:effectRef idx="0"/>
    <cs:fontRef idx="minor">
      <a:schemeClr val="lt1">
        <a:lumMod val="85000"/>
      </a:schemeClr>
    </cs:fontRef>
    <cs:defRPr sz="900" b="1" kern="1200" cap="all"/>
  </cs:axisTitle>
  <cs:category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categoryAxis>
  <cs:chartArea>
    <cs:lnRef idx="0"/>
    <cs:fillRef idx="0"/>
    <cs:effectRef idx="0"/>
    <cs:fontRef idx="minor">
      <a:schemeClr val="dk1"/>
    </cs:fontRef>
    <cs:spPr>
      <a:gradFill flip="none" rotWithShape="1">
        <a:gsLst>
          <a:gs pos="0">
            <a:schemeClr val="dk1">
              <a:lumMod val="65000"/>
              <a:lumOff val="35000"/>
            </a:schemeClr>
          </a:gs>
          <a:gs pos="100000">
            <a:schemeClr val="dk1">
              <a:lumMod val="85000"/>
              <a:lumOff val="15000"/>
            </a:schemeClr>
          </a:gs>
        </a:gsLst>
        <a:path path="circle">
          <a:fillToRect l="50000" t="50000" r="50000" b="50000"/>
        </a:path>
        <a:tileRect/>
      </a:gradFill>
    </cs:spPr>
    <cs:defRPr sz="1000" kern="1200"/>
  </cs:chartArea>
  <cs:dataLabel>
    <cs:lnRef idx="0"/>
    <cs:fillRef idx="0"/>
    <cs:effectRef idx="0"/>
    <cs:fontRef idx="minor">
      <a:schemeClr val="lt1">
        <a:lumMod val="8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3">
      <cs:styleClr val="auto"/>
    </cs:fillRef>
    <cs:effectRef idx="3"/>
    <cs:fontRef idx="minor">
      <a:schemeClr val="tx1"/>
    </cs:fontRef>
  </cs:dataPoint>
  <cs:dataPoint3D>
    <cs:lnRef idx="0"/>
    <cs:fillRef idx="3">
      <cs:styleClr val="auto"/>
    </cs:fillRef>
    <cs:effectRef idx="3"/>
    <cs:fontRef idx="minor">
      <a:schemeClr val="tx1"/>
    </cs:fontRef>
  </cs:dataPoint3D>
  <cs:dataPointLine>
    <cs:lnRef idx="0">
      <cs:styleClr val="auto"/>
    </cs:lnRef>
    <cs:fillRef idx="3"/>
    <cs:effectRef idx="3"/>
    <cs:fontRef idx="minor">
      <a:schemeClr val="tx1"/>
    </cs:fontRef>
    <cs:spPr>
      <a:ln w="3492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3">
      <cs:styleClr val="auto"/>
    </cs:fillRef>
    <cs:effectRef idx="3"/>
    <cs:fontRef idx="minor">
      <a:schemeClr val="tx1"/>
    </cs:fontRef>
    <cs:spPr>
      <a:ln w="9525">
        <a:solidFill>
          <a:schemeClr val="phClr"/>
        </a:solidFill>
        <a:round/>
      </a:ln>
    </cs:spPr>
  </cs:dataPointMarker>
  <cs:dataPointMarkerLayout symbol="circle" size="6"/>
  <cs:dataPointWireframe>
    <cs:lnRef idx="0">
      <cs:styleClr val="auto"/>
    </cs:lnRef>
    <cs:fillRef idx="3"/>
    <cs:effectRef idx="3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lt1">
        <a:lumMod val="85000"/>
      </a:schemeClr>
    </cs:fontRef>
    <cs:spPr>
      <a:ln w="9525">
        <a:solidFill>
          <a:schemeClr val="lt1">
            <a:lumMod val="95000"/>
            <a:alpha val="54000"/>
          </a:schemeClr>
        </a:solidFill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gradFill>
        <a:gsLst>
          <a:gs pos="100000">
            <a:schemeClr val="dk1">
              <a:lumMod val="95000"/>
              <a:lumOff val="5000"/>
            </a:schemeClr>
          </a:gs>
          <a:gs pos="0">
            <a:schemeClr val="dk1">
              <a:lumMod val="75000"/>
              <a:lumOff val="25000"/>
            </a:schemeClr>
          </a:gs>
        </a:gsLst>
        <a:path path="circle">
          <a:fillToRect l="50000" t="50000" r="50000" b="50000"/>
        </a:path>
      </a:gradFill>
      <a:ln w="9525">
        <a:solidFill>
          <a:schemeClr val="dk1">
            <a:lumMod val="75000"/>
            <a:lumOff val="2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/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>
            <a:lumMod val="95000"/>
            <a:alpha val="10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>
        <a:solidFill>
          <a:schemeClr val="lt1">
            <a:lumMod val="95000"/>
            <a:alpha val="5000"/>
          </a:schemeClr>
        </a:solidFill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lt1"/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>
        <a:solidFill>
          <a:schemeClr val="lt1">
            <a:lumMod val="95000"/>
            <a:alpha val="54000"/>
          </a:schemeClr>
        </a:solidFill>
      </a:ln>
    </cs:spPr>
  </cs:leaderLine>
  <cs:legend>
    <cs:lnRef idx="0"/>
    <cs:fillRef idx="0"/>
    <cs:effectRef idx="0"/>
    <cs:fontRef idx="minor">
      <a:schemeClr val="lt1">
        <a:lumMod val="85000"/>
      </a:schemeClr>
    </cs:fontRef>
    <cs:defRPr sz="900" kern="1200"/>
  </cs:legend>
  <cs:plotArea>
    <cs:lnRef idx="0"/>
    <cs:fillRef idx="0"/>
    <cs:effectRef idx="0"/>
    <cs:fontRef idx="minor">
      <a:schemeClr val="tx1"/>
    </cs:fontRef>
  </cs:plotArea>
  <cs:plotArea3D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lt1">
        <a:lumMod val="85000"/>
      </a:schemeClr>
    </cs:fontRef>
    <cs:spPr>
      <a:ln w="12700" cap="flat" cmpd="sng" algn="ctr">
        <a:solidFill>
          <a:schemeClr val="lt1">
            <a:lumMod val="95000"/>
            <a:alpha val="54000"/>
          </a:schemeClr>
        </a:solidFill>
        <a:round/>
      </a:ln>
    </cs:spPr>
    <cs:defRPr sz="900" kern="1200"/>
  </cs:seriesAxis>
  <cs:seriesLine>
    <cs:lnRef idx="0"/>
    <cs:fillRef idx="0"/>
    <cs:effectRef idx="0"/>
    <cs:fontRef idx="minor">
      <a:schemeClr val="lt1"/>
    </cs:fontRef>
    <cs:spPr>
      <a:ln w="9525" cap="flat" cmpd="sng" algn="ctr">
        <a:solidFill>
          <a:schemeClr val="lt1">
            <a:lumMod val="95000"/>
            <a:alpha val="54000"/>
          </a:schemeClr>
        </a:solidFill>
        <a:round/>
      </a:ln>
    </cs:spPr>
  </cs:seriesLine>
  <cs:title>
    <cs:lnRef idx="0"/>
    <cs:fillRef idx="0"/>
    <cs:effectRef idx="0"/>
    <cs:fontRef idx="minor">
      <a:schemeClr val="lt1">
        <a:lumMod val="95000"/>
      </a:schemeClr>
    </cs:fontRef>
    <cs:defRPr sz="1600" b="1" kern="1200" spc="100" baseline="0">
      <a:effectLst>
        <a:outerShdw blurRad="50800" dist="38100" dir="5400000" algn="t" rotWithShape="0">
          <a:prstClr val="black">
            <a:alpha val="40000"/>
          </a:prstClr>
        </a:outerShdw>
      </a:effectLst>
    </cs:defRPr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</a:ln>
    </cs:spPr>
  </cs:trendline>
  <cs:trendlineLabel>
    <cs:lnRef idx="0"/>
    <cs:fillRef idx="0"/>
    <cs:effectRef idx="0"/>
    <cs:fontRef idx="minor">
      <a:schemeClr val="lt1">
        <a:lumMod val="8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gradFill>
        <a:gsLst>
          <a:gs pos="100000">
            <a:schemeClr val="lt1">
              <a:lumMod val="85000"/>
            </a:schemeClr>
          </a:gs>
          <a:gs pos="0">
            <a:schemeClr val="lt1"/>
          </a:gs>
        </a:gsLst>
        <a:path path="circle">
          <a:fillToRect l="50000" t="50000" r="50000" b="50000"/>
        </a:path>
      </a:gradFill>
      <a:ln w="9525" cap="flat" cmpd="sng" algn="ctr">
        <a:solidFill>
          <a:schemeClr val="lt1"/>
        </a:solidFill>
        <a:round/>
      </a:ln>
    </cs:spPr>
  </cs:upBar>
  <cs:valueAxis>
    <cs:lnRef idx="0"/>
    <cs:fillRef idx="0"/>
    <cs:effectRef idx="0"/>
    <cs:fontRef idx="minor">
      <a:schemeClr val="lt1">
        <a:lumMod val="85000"/>
      </a:schemeClr>
    </cs:fontRef>
    <cs:defRPr sz="900" kern="1200"/>
  </cs:valueAxis>
  <cs:wall>
    <cs:lnRef idx="0"/>
    <cs:fillRef idx="0"/>
    <cs:effectRef idx="0"/>
    <cs:fontRef idx="minor">
      <a:schemeClr val="tx1"/>
    </cs:fontRef>
  </cs:wall>
</cs:chartStyle>
</file>

<file path=ppt/charts/style7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4C3FCC2-4E7A-4671-AA79-177CB194E449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A01C38D-F26D-4167-83EF-8774BC62D54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605061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33238323-0ADF-4328-9564-AEB5DFD80DB6}"/>
              </a:ext>
            </a:extLst>
          </p:cNvPr>
          <p:cNvSpPr/>
          <p:nvPr userDrawn="1"/>
        </p:nvSpPr>
        <p:spPr bwMode="blackWhite">
          <a:xfrm>
            <a:off x="254950" y="262784"/>
            <a:ext cx="11682101" cy="633243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EB776FAE-C8F8-44A1-8BC7-9EB94837145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333500"/>
            <a:ext cx="9144000" cy="1790700"/>
          </a:xfrm>
        </p:spPr>
        <p:txBody>
          <a:bodyPr vert="horz" lIns="91440" tIns="0" rIns="91440" bIns="0" rtlCol="0" anchor="t" anchorCtr="0">
            <a:noAutofit/>
          </a:bodyPr>
          <a:lstStyle>
            <a:lvl1pPr>
              <a:lnSpc>
                <a:spcPct val="100000"/>
              </a:lnSpc>
              <a:defRPr lang="en-US" sz="4800" dirty="0">
                <a:solidFill>
                  <a:schemeClr val="bg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A7900C6-1C2C-4612-8672-356C6DDFDCB1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128009"/>
            <a:ext cx="9144000" cy="1287675"/>
          </a:xfrm>
        </p:spPr>
        <p:txBody>
          <a:bodyPr vert="horz" lIns="91440" tIns="45720" rIns="91440" bIns="45720" rtlCol="0" anchor="t" anchorCtr="0">
            <a:noAutofit/>
          </a:bodyPr>
          <a:lstStyle>
            <a:lvl1pPr marL="0" indent="0">
              <a:buNone/>
              <a:defRPr lang="en-US" sz="2400" dirty="0">
                <a:solidFill>
                  <a:schemeClr val="bg1"/>
                </a:solidFill>
                <a:latin typeface="+mj-lt"/>
              </a:defRPr>
            </a:lvl1pPr>
          </a:lstStyle>
          <a:p>
            <a:pPr marL="228600" lvl="0" indent="-228600">
              <a:lnSpc>
                <a:spcPct val="150000"/>
              </a:lnSpc>
              <a:spcAft>
                <a:spcPts val="1200"/>
              </a:spcAft>
            </a:pPr>
            <a:r>
              <a:rPr lang="en-US"/>
              <a:t>Click to edit Master subtitle style</a:t>
            </a:r>
            <a:endParaRPr lang="en-US" dirty="0"/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5274E620-B44E-41FF-8FA1-D955BD69C0B9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48" r="13926" b="71478"/>
          <a:stretch/>
        </p:blipFill>
        <p:spPr>
          <a:xfrm>
            <a:off x="342899" y="4546601"/>
            <a:ext cx="11715751" cy="20256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211464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5A2570-7517-4576-B836-E4E6D3E7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9B673-4507-4B72-871E-001890787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433" y="1604211"/>
            <a:ext cx="10983131" cy="4572752"/>
          </a:xfrm>
        </p:spPr>
        <p:txBody>
          <a:bodyPr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Title 8">
            <a:extLst>
              <a:ext uri="{FF2B5EF4-FFF2-40B4-BE49-F238E27FC236}">
                <a16:creationId xmlns:a16="http://schemas.microsoft.com/office/drawing/2014/main" id="{FB8AB91F-D739-4DD5-859B-B16B125BEC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7103406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345A2570-7517-4576-B836-E4E6D3E743B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859B673-4507-4B72-871E-0018907875D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04433" y="1604211"/>
            <a:ext cx="10983131" cy="4572752"/>
          </a:xfrm>
        </p:spPr>
        <p:txBody>
          <a:bodyPr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0E770BB0-A521-41C6-A0AE-BEE679D2AD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14046577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5F89203F-46EF-44A2-956A-7FF6AF93BE7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8" name="Content Placeholder 2">
            <a:extLst>
              <a:ext uri="{FF2B5EF4-FFF2-40B4-BE49-F238E27FC236}">
                <a16:creationId xmlns:a16="http://schemas.microsoft.com/office/drawing/2014/main" id="{D1D47175-944E-463B-ABBB-06669A4739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862" y="1507068"/>
            <a:ext cx="3192379" cy="4669896"/>
          </a:xfrm>
        </p:spPr>
        <p:txBody>
          <a:bodyPr anchor="ctr"/>
          <a:lstStyle>
            <a:lvl1pPr marL="0" indent="0" algn="l">
              <a:lnSpc>
                <a:spcPct val="150000"/>
              </a:lnSpc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 algn="l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9" name="Content Placeholder 2">
            <a:extLst>
              <a:ext uri="{FF2B5EF4-FFF2-40B4-BE49-F238E27FC236}">
                <a16:creationId xmlns:a16="http://schemas.microsoft.com/office/drawing/2014/main" id="{A40725B0-0DB7-41CE-9C4C-39E8D0F6325E}"/>
              </a:ext>
            </a:extLst>
          </p:cNvPr>
          <p:cNvSpPr>
            <a:spLocks noGrp="1"/>
          </p:cNvSpPr>
          <p:nvPr>
            <p:ph idx="13"/>
          </p:nvPr>
        </p:nvSpPr>
        <p:spPr>
          <a:xfrm>
            <a:off x="4395537" y="1507068"/>
            <a:ext cx="7143905" cy="4669896"/>
          </a:xfrm>
        </p:spPr>
        <p:txBody>
          <a:bodyPr anchor="ctr"/>
          <a:lstStyle>
            <a:lvl1pPr marL="0" indent="0">
              <a:spcAft>
                <a:spcPts val="1200"/>
              </a:spcAft>
              <a:buSzPct val="25000"/>
              <a:buFont typeface="Segoe UI" panose="020B0502040204020203" pitchFamily="34" charset="0"/>
              <a:buChar char=" "/>
              <a:defRPr sz="1200"/>
            </a:lvl1pPr>
            <a:lvl2pPr marL="401638" indent="7938">
              <a:spcBef>
                <a:spcPts val="600"/>
              </a:spcBef>
              <a:spcAft>
                <a:spcPts val="1200"/>
              </a:spcAft>
              <a:buFont typeface="Segoe UI" panose="020B0502040204020203" pitchFamily="34" charset="0"/>
              <a:buChar char=" "/>
              <a:defRPr sz="1200"/>
            </a:lvl2pPr>
            <a:lvl3pPr marL="1143000" indent="-228600">
              <a:buFont typeface="Segoe UI" panose="020B0502040204020203" pitchFamily="34" charset="0"/>
              <a:buChar char=" "/>
              <a:defRPr/>
            </a:lvl3pPr>
            <a:lvl4pPr marL="1600200" indent="-228600">
              <a:buFont typeface="Segoe UI" panose="020B0502040204020203" pitchFamily="34" charset="0"/>
              <a:buChar char=" "/>
              <a:defRPr/>
            </a:lvl4pPr>
            <a:lvl5pPr marL="2057400" indent="-228600">
              <a:buFont typeface="Segoe UI" panose="020B0502040204020203" pitchFamily="34" charset="0"/>
              <a:buChar char=" "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F9E63483-559C-4A6F-B04F-D6C56A3CC0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204944457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4951" y="262784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10" name="Rectangle 9"/>
          <p:cNvSpPr/>
          <p:nvPr userDrawn="1"/>
        </p:nvSpPr>
        <p:spPr bwMode="blackWhite">
          <a:xfrm>
            <a:off x="254950" y="262784"/>
            <a:ext cx="11682101" cy="2072643"/>
          </a:xfrm>
          <a:prstGeom prst="rect">
            <a:avLst/>
          </a:prstGeom>
          <a:solidFill>
            <a:srgbClr val="D2472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1800"/>
          </a:p>
        </p:txBody>
      </p:sp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521208" y="1536192"/>
            <a:ext cx="6876288" cy="640080"/>
          </a:xfrm>
        </p:spPr>
        <p:txBody>
          <a:bodyPr>
            <a:normAutofit/>
          </a:bodyPr>
          <a:lstStyle>
            <a:lvl1pPr>
              <a:defRPr sz="3600">
                <a:solidFill>
                  <a:schemeClr val="bg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Content Placeholder 6"/>
          <p:cNvSpPr>
            <a:spLocks noGrp="1"/>
          </p:cNvSpPr>
          <p:nvPr>
            <p:ph sz="quarter" idx="13"/>
          </p:nvPr>
        </p:nvSpPr>
        <p:spPr>
          <a:xfrm>
            <a:off x="539496" y="2560320"/>
            <a:ext cx="9445752" cy="397764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sz="2400" smtClean="0">
                <a:solidFill>
                  <a:schemeClr val="tx1">
                    <a:lumMod val="75000"/>
                    <a:lumOff val="25000"/>
                  </a:schemeClr>
                </a:solidFill>
                <a:latin typeface="+mj-lt"/>
              </a:defRPr>
            </a:lvl1pPr>
            <a:lvl2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2pPr>
            <a:lvl3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3pPr>
            <a:lvl4pPr>
              <a:defRPr lang="en-US" sz="1200" dirty="0" smtClean="0">
                <a:solidFill>
                  <a:schemeClr val="tx1">
                    <a:lumMod val="75000"/>
                    <a:lumOff val="25000"/>
                  </a:schemeClr>
                </a:solidFill>
              </a:defRPr>
            </a:lvl4pPr>
            <a:lvl5pPr>
              <a:defRPr lang="en-US" sz="1200" dirty="0">
                <a:solidFill>
                  <a:schemeClr val="tx1">
                    <a:lumMod val="75000"/>
                    <a:lumOff val="25000"/>
                  </a:schemeClr>
                </a:solidFill>
              </a:defRPr>
            </a:lvl5pPr>
          </a:lstStyle>
          <a:p>
            <a:pPr marL="0" lvl="0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Click to edit Master text styles</a:t>
            </a:r>
          </a:p>
          <a:p>
            <a:pPr marL="0" lvl="1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Second level</a:t>
            </a:r>
          </a:p>
          <a:p>
            <a:pPr marL="0" lvl="2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Third level</a:t>
            </a:r>
          </a:p>
          <a:p>
            <a:pPr marL="0" lvl="3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Fourth level</a:t>
            </a:r>
          </a:p>
          <a:p>
            <a:pPr marL="0" lvl="4" indent="0">
              <a:lnSpc>
                <a:spcPct val="150000"/>
              </a:lnSpc>
              <a:spcBef>
                <a:spcPts val="1000"/>
              </a:spcBef>
              <a:spcAft>
                <a:spcPts val="1200"/>
              </a:spcAft>
              <a:buNone/>
            </a:pPr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69782844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" name="Title 3">
            <a:extLst>
              <a:ext uri="{FF2B5EF4-FFF2-40B4-BE49-F238E27FC236}">
                <a16:creationId xmlns:a16="http://schemas.microsoft.com/office/drawing/2014/main" id="{0017C897-2775-4930-B0BE-BEB7245323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314815899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tand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cxnSp>
        <p:nvCxnSpPr>
          <p:cNvPr id="12" name="Straight Connector 11"/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5">
            <a:extLst>
              <a:ext uri="{FF2B5EF4-FFF2-40B4-BE49-F238E27FC236}">
                <a16:creationId xmlns:a16="http://schemas.microsoft.com/office/drawing/2014/main" id="{D258610D-0376-4D1E-8ED8-29382288BB0C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41783" t="-3"/>
          <a:stretch/>
        </p:blipFill>
        <p:spPr>
          <a:xfrm>
            <a:off x="269032" y="4801396"/>
            <a:ext cx="11653936" cy="1786228"/>
          </a:xfrm>
          <a:prstGeom prst="rect">
            <a:avLst/>
          </a:prstGeom>
        </p:spPr>
      </p:pic>
      <p:sp>
        <p:nvSpPr>
          <p:cNvPr id="3" name="Title 2">
            <a:extLst>
              <a:ext uri="{FF2B5EF4-FFF2-40B4-BE49-F238E27FC236}">
                <a16:creationId xmlns:a16="http://schemas.microsoft.com/office/drawing/2014/main" id="{21C16CD2-606C-441E-BBA3-51767980CC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</p:spTree>
    <p:extLst>
      <p:ext uri="{BB962C8B-B14F-4D97-AF65-F5344CB8AC3E}">
        <p14:creationId xmlns:p14="http://schemas.microsoft.com/office/powerpoint/2010/main" val="99350173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97667540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Rectangle 6">
            <a:extLst>
              <a:ext uri="{FF2B5EF4-FFF2-40B4-BE49-F238E27FC236}">
                <a16:creationId xmlns:a16="http://schemas.microsoft.com/office/drawing/2014/main" id="{CD5FD28E-AEC9-43B8-86F4-9CD3C41D49D7}"/>
              </a:ext>
            </a:extLst>
          </p:cNvPr>
          <p:cNvSpPr/>
          <p:nvPr userDrawn="1"/>
        </p:nvSpPr>
        <p:spPr>
          <a:xfrm>
            <a:off x="256032" y="265176"/>
            <a:ext cx="11683049" cy="6332433"/>
          </a:xfrm>
          <a:prstGeom prst="rect">
            <a:avLst/>
          </a:prstGeom>
          <a:solidFill>
            <a:srgbClr val="F5F5F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b" anchorCtr="0"/>
          <a:lstStyle/>
          <a:p>
            <a:pPr algn="ctr"/>
            <a:endParaRPr lang="en-US" sz="1800" dirty="0"/>
          </a:p>
        </p:txBody>
      </p:sp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5AFE014-E3CD-4B9A-A705-F1CADD8F420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434" y="448628"/>
            <a:ext cx="10983132" cy="747763"/>
          </a:xfrm>
          <a:prstGeom prst="rect">
            <a:avLst/>
          </a:prstGeom>
        </p:spPr>
        <p:txBody>
          <a:bodyPr vert="horz" lIns="91440" tIns="45720" rIns="91440" bIns="45720" rtlCol="0" anchor="ctr" anchorCtr="0">
            <a:normAutofit/>
          </a:bodyPr>
          <a:lstStyle/>
          <a:p>
            <a:pPr lvl="0"/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ADE5F7-8A52-43AD-8F30-F13CF545061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9DC85AE-A002-4BA3-8D90-3960ED0FF8F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744E560-77BF-4D1A-B6E7-CD55CE12B1B8}" type="datetimeFigureOut">
              <a:rPr lang="en-US" smtClean="0"/>
              <a:t>3/4/2026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103AA5-C732-4ECB-88D6-DAA20E2C1C6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C280433-CBB5-49C5-B032-5A800E5D09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359379A-16E2-4C4A-96D0-A52C442257E7}" type="slidenum">
              <a:rPr lang="en-US" smtClean="0"/>
              <a:t>‹#›</a:t>
            </a:fld>
            <a:endParaRPr lang="en-US"/>
          </a:p>
        </p:txBody>
      </p:sp>
      <p:cxnSp>
        <p:nvCxnSpPr>
          <p:cNvPr id="8" name="Straight Connector 7">
            <a:extLst>
              <a:ext uri="{FF2B5EF4-FFF2-40B4-BE49-F238E27FC236}">
                <a16:creationId xmlns:a16="http://schemas.microsoft.com/office/drawing/2014/main" id="{E32A06DA-7FF5-4DDE-94D0-63A83DB241E8}"/>
              </a:ext>
            </a:extLst>
          </p:cNvPr>
          <p:cNvCxnSpPr/>
          <p:nvPr userDrawn="1"/>
        </p:nvCxnSpPr>
        <p:spPr>
          <a:xfrm>
            <a:off x="604434" y="1196392"/>
            <a:ext cx="10983132" cy="0"/>
          </a:xfrm>
          <a:prstGeom prst="line">
            <a:avLst/>
          </a:prstGeom>
          <a:ln w="25400">
            <a:solidFill>
              <a:srgbClr val="D24726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85140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63" r:id="rId3"/>
    <p:sldLayoutId id="2147483652" r:id="rId4"/>
    <p:sldLayoutId id="2147483660" r:id="rId5"/>
    <p:sldLayoutId id="2147483662" r:id="rId6"/>
    <p:sldLayoutId id="2147483661" r:id="rId7"/>
    <p:sldLayoutId id="2147483655" r:id="rId8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lang="en-US" sz="2800" kern="1200">
          <a:solidFill>
            <a:schemeClr val="bg2">
              <a:lumMod val="25000"/>
            </a:schemeClr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chart" Target="../charts/chart1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chart" Target="../charts/chart2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microsoft.com/office/2014/relationships/chartEx" Target="../charts/chartEx1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chart" Target="../charts/chart3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chart" Target="../charts/chart4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chart" Target="../charts/chart5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chart" Target="../charts/chart6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microsoft.com/office/2017/06/relationships/model3d" Target="../media/model3d1.glb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5EF8D61-9318-4DC8-A868-2B1BFDD2B2C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57201" y="4240666"/>
            <a:ext cx="7051963" cy="1253835"/>
          </a:xfrm>
        </p:spPr>
        <p:txBody>
          <a:bodyPr/>
          <a:lstStyle/>
          <a:p>
            <a:pPr algn="ctr">
              <a:lnSpc>
                <a:spcPts val="4620"/>
              </a:lnSpc>
            </a:pPr>
            <a:r>
              <a:rPr lang="en-US" sz="4400" b="0" dirty="0">
                <a:effectLst/>
                <a:latin typeface="Consolas" panose="020B0609020204030204" pitchFamily="49" charset="0"/>
              </a:rPr>
              <a:t>Interactive Dashboard Creation on Amazon Sales Dataset</a:t>
            </a:r>
            <a:endParaRPr lang="en-US" sz="4400" b="1" dirty="0">
              <a:solidFill>
                <a:srgbClr val="FFFFFF"/>
              </a:solidFill>
              <a:latin typeface="Playfair Display Bold"/>
              <a:ea typeface="Playfair Display Bold"/>
              <a:cs typeface="Playfair Display Bold"/>
              <a:sym typeface="Playfair Display Bold"/>
            </a:endParaRPr>
          </a:p>
        </p:txBody>
      </p:sp>
      <p:sp>
        <p:nvSpPr>
          <p:cNvPr id="5" name="Title 1">
            <a:extLst>
              <a:ext uri="{FF2B5EF4-FFF2-40B4-BE49-F238E27FC236}">
                <a16:creationId xmlns:a16="http://schemas.microsoft.com/office/drawing/2014/main" id="{566FA85D-3B0A-4E0C-B8AC-042993910A93}"/>
              </a:ext>
            </a:extLst>
          </p:cNvPr>
          <p:cNvSpPr txBox="1">
            <a:spLocks/>
          </p:cNvSpPr>
          <p:nvPr/>
        </p:nvSpPr>
        <p:spPr>
          <a:xfrm>
            <a:off x="8576526" y="5568533"/>
            <a:ext cx="2447364" cy="495232"/>
          </a:xfrm>
          <a:prstGeom prst="rect">
            <a:avLst/>
          </a:prstGeom>
        </p:spPr>
        <p:txBody>
          <a:bodyPr anchor="t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2600" kern="1200">
                <a:solidFill>
                  <a:srgbClr val="408E93"/>
                </a:solidFill>
                <a:latin typeface="Agency FB" panose="020B0503020202020204" pitchFamily="34" charset="0"/>
                <a:ea typeface="+mj-ea"/>
                <a:cs typeface="Segoe UI Light" panose="020B0502040204020203" pitchFamily="34" charset="0"/>
              </a:defRPr>
            </a:lvl1pPr>
          </a:lstStyle>
          <a:p>
            <a:pPr>
              <a:spcBef>
                <a:spcPts val="1000"/>
              </a:spcBef>
            </a:pPr>
            <a:r>
              <a:rPr lang="en-US" sz="1800" dirty="0">
                <a:solidFill>
                  <a:schemeClr val="bg1"/>
                </a:solidFill>
                <a:latin typeface="+mj-lt"/>
                <a:ea typeface="+mn-ea"/>
                <a:cs typeface="+mn-cs"/>
              </a:rPr>
              <a:t>Presented By</a:t>
            </a:r>
          </a:p>
        </p:txBody>
      </p:sp>
      <p:sp>
        <p:nvSpPr>
          <p:cNvPr id="4" name="Subtitle 2">
            <a:extLst>
              <a:ext uri="{FF2B5EF4-FFF2-40B4-BE49-F238E27FC236}">
                <a16:creationId xmlns:a16="http://schemas.microsoft.com/office/drawing/2014/main" id="{0FE0F52F-ADF1-4011-A51B-92383D0AB7F8}"/>
              </a:ext>
            </a:extLst>
          </p:cNvPr>
          <p:cNvSpPr txBox="1">
            <a:spLocks/>
          </p:cNvSpPr>
          <p:nvPr/>
        </p:nvSpPr>
        <p:spPr>
          <a:xfrm>
            <a:off x="8576526" y="5837440"/>
            <a:ext cx="3760738" cy="1020560"/>
          </a:xfrm>
          <a:prstGeom prst="rect">
            <a:avLst/>
          </a:prstGeom>
        </p:spPr>
        <p:txBody>
          <a:bodyPr>
            <a:noAutofit/>
          </a:bodyPr>
          <a:lstStyle>
            <a:lvl1pPr marL="0" indent="0" algn="l" defTabSz="914400" rtl="0" eaLnBrk="1" latinLnBrk="0" hangingPunct="1">
              <a:lnSpc>
                <a:spcPct val="110000"/>
              </a:lnSpc>
              <a:spcBef>
                <a:spcPts val="1000"/>
              </a:spcBef>
              <a:buFont typeface="Arial" panose="020B0604020202020204" pitchFamily="34" charset="0"/>
              <a:buNone/>
              <a:defRPr sz="1300" kern="1200">
                <a:solidFill>
                  <a:schemeClr val="bg1"/>
                </a:solidFill>
                <a:latin typeface="Segoe UI Light" panose="020B0502040204020203" pitchFamily="34" charset="0"/>
                <a:ea typeface="+mn-ea"/>
                <a:cs typeface="Segoe UI Light" panose="020B0502040204020203" pitchFamily="34" charset="0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r>
              <a:rPr lang="en-US" sz="2400" u="sng" dirty="0"/>
              <a:t>Jayander Prakash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BAB8FB-7BF9-9B60-2F43-6EFEE6909C1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1" y="314696"/>
            <a:ext cx="7835043" cy="372444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758032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A31795B-A93A-416C-8052-FAF4D9073E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Project Flowchart</a:t>
            </a:r>
          </a:p>
        </p:txBody>
      </p:sp>
      <p:sp>
        <p:nvSpPr>
          <p:cNvPr id="4" name="Text Placeholder 5" descr="2D Slides">
            <a:extLst>
              <a:ext uri="{FF2B5EF4-FFF2-40B4-BE49-F238E27FC236}">
                <a16:creationId xmlns:a16="http://schemas.microsoft.com/office/drawing/2014/main" id="{5D483DB7-3925-4129-9AB3-FF75028415D3}"/>
              </a:ext>
            </a:extLst>
          </p:cNvPr>
          <p:cNvSpPr txBox="1">
            <a:spLocks/>
          </p:cNvSpPr>
          <p:nvPr/>
        </p:nvSpPr>
        <p:spPr>
          <a:xfrm>
            <a:off x="1382178" y="1452563"/>
            <a:ext cx="3475038" cy="5239182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Data Cleaning</a:t>
            </a:r>
          </a:p>
          <a:p>
            <a:pPr algn="l">
              <a:lnSpc>
                <a:spcPts val="2399"/>
              </a:lnSpc>
            </a:pPr>
            <a:endParaRPr lang="en-US" sz="1800" dirty="0">
              <a:latin typeface="Raleway"/>
              <a:ea typeface="Raleway"/>
              <a:cs typeface="Raleway"/>
              <a:sym typeface="Raleway"/>
            </a:endParaRP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Data Loading</a:t>
            </a:r>
          </a:p>
          <a:p>
            <a:pPr algn="l">
              <a:lnSpc>
                <a:spcPts val="2399"/>
              </a:lnSpc>
            </a:pPr>
            <a:endParaRPr lang="en-US" sz="1800" dirty="0">
              <a:latin typeface="Raleway"/>
              <a:ea typeface="Raleway"/>
              <a:cs typeface="Raleway"/>
              <a:sym typeface="Raleway"/>
            </a:endParaRP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SQL Query Creation</a:t>
            </a: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Raleway"/>
              <a:ea typeface="Raleway"/>
              <a:cs typeface="Raleway"/>
              <a:sym typeface="Raleway"/>
            </a:endParaRP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Visualization of Retrieved Data</a:t>
            </a: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Raleway"/>
              <a:ea typeface="Raleway"/>
              <a:cs typeface="Raleway"/>
              <a:sym typeface="Raleway"/>
            </a:endParaRP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Dashboard Execution</a:t>
            </a: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endParaRPr lang="en-US" sz="1800" dirty="0">
              <a:latin typeface="Raleway"/>
              <a:ea typeface="Raleway"/>
              <a:cs typeface="Raleway"/>
              <a:sym typeface="Raleway"/>
            </a:endParaRPr>
          </a:p>
          <a:p>
            <a:pPr marL="285750" indent="-285750" algn="l">
              <a:lnSpc>
                <a:spcPts val="2399"/>
              </a:lnSpc>
              <a:buFont typeface="Arial" panose="020B0604020202020204" pitchFamily="34" charset="0"/>
              <a:buChar char="•"/>
            </a:pPr>
            <a:r>
              <a:rPr lang="en-US" sz="1800" dirty="0">
                <a:latin typeface="Raleway"/>
                <a:ea typeface="Raleway"/>
                <a:cs typeface="Raleway"/>
                <a:sym typeface="Raleway"/>
              </a:rPr>
              <a:t>Conclusion</a:t>
            </a:r>
          </a:p>
        </p:txBody>
      </p:sp>
      <p:pic>
        <p:nvPicPr>
          <p:cNvPr id="3" name="Grid" descr="grid plane">
            <a:extLst>
              <a:ext uri="{FF2B5EF4-FFF2-40B4-BE49-F238E27FC236}">
                <a16:creationId xmlns:a16="http://schemas.microsoft.com/office/drawing/2014/main" id="{71F5A0B2-7584-4034-8919-A5F2C482F46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-307" r="-943" b="-1096"/>
          <a:stretch/>
        </p:blipFill>
        <p:spPr>
          <a:xfrm>
            <a:off x="5827143" y="2570364"/>
            <a:ext cx="5896604" cy="30304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5510815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E7273F9-59F9-4FB3-9D34-82C64C4F86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04434" y="448628"/>
            <a:ext cx="10983132" cy="747763"/>
          </a:xfrm>
        </p:spPr>
        <p:txBody>
          <a:bodyPr/>
          <a:lstStyle/>
          <a:p>
            <a:r>
              <a:rPr lang="en-US" dirty="0"/>
              <a:t>Data Cleaning</a:t>
            </a:r>
          </a:p>
        </p:txBody>
      </p:sp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AB49E1-195D-497A-BB31-2158958CA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90862" y="1507068"/>
            <a:ext cx="3192379" cy="4669896"/>
          </a:xfrm>
        </p:spPr>
        <p:txBody>
          <a:bodyPr>
            <a:normAutofit fontScale="85000" lnSpcReduction="10000"/>
          </a:bodyPr>
          <a:lstStyle/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dirty="0"/>
              <a:t>Check for Missing Values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dirty="0"/>
              <a:t>Check For Duplicate Values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dirty="0"/>
              <a:t>Normalize Data Types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dirty="0"/>
              <a:t>Execute Data Validation</a:t>
            </a:r>
          </a:p>
          <a:p>
            <a:pPr marL="342900" lvl="0" indent="-342900">
              <a:buFont typeface="Wingdings" panose="05000000000000000000" pitchFamily="2" charset="2"/>
              <a:buChar char="q"/>
            </a:pPr>
            <a:r>
              <a:rPr lang="en-US" sz="2400" dirty="0"/>
              <a:t>Perform Spellchecks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F8841605-9DF4-71BF-B2CC-67D3C633E3FE}"/>
              </a:ext>
            </a:extLst>
          </p:cNvPr>
          <p:cNvSpPr>
            <a:spLocks noGrp="1"/>
          </p:cNvSpPr>
          <p:nvPr>
            <p:ph idx="13"/>
          </p:nvPr>
        </p:nvSpPr>
        <p:spPr/>
        <p:txBody>
          <a:bodyPr/>
          <a:lstStyle/>
          <a:p>
            <a:endParaRPr lang="en-IN"/>
          </a:p>
        </p:txBody>
      </p:sp>
      <p:pic>
        <p:nvPicPr>
          <p:cNvPr id="10" name="Picture 9">
            <a:extLst>
              <a:ext uri="{FF2B5EF4-FFF2-40B4-BE49-F238E27FC236}">
                <a16:creationId xmlns:a16="http://schemas.microsoft.com/office/drawing/2014/main" id="{9BA6F0D1-C6FC-189D-0EA9-A8394DA4B0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81466" y="1507068"/>
            <a:ext cx="7206100" cy="46698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516380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F083D2B2-24CC-41A1-8AC3-EDF2DA2C3A2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Fields Present in the Dataset</a:t>
            </a:r>
          </a:p>
        </p:txBody>
      </p:sp>
      <p:graphicFrame>
        <p:nvGraphicFramePr>
          <p:cNvPr id="11" name="Table 12">
            <a:extLst>
              <a:ext uri="{FF2B5EF4-FFF2-40B4-BE49-F238E27FC236}">
                <a16:creationId xmlns:a16="http://schemas.microsoft.com/office/drawing/2014/main" id="{06C53D05-94E2-0D58-7454-0D00ED30CBE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290094938"/>
              </p:ext>
            </p:extLst>
          </p:nvPr>
        </p:nvGraphicFramePr>
        <p:xfrm>
          <a:off x="2032000" y="1454727"/>
          <a:ext cx="8128000" cy="5085569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4064000">
                  <a:extLst>
                    <a:ext uri="{9D8B030D-6E8A-4147-A177-3AD203B41FA5}">
                      <a16:colId xmlns:a16="http://schemas.microsoft.com/office/drawing/2014/main" val="1878463704"/>
                    </a:ext>
                  </a:extLst>
                </a:gridCol>
                <a:gridCol w="4064000">
                  <a:extLst>
                    <a:ext uri="{9D8B030D-6E8A-4147-A177-3AD203B41FA5}">
                      <a16:colId xmlns:a16="http://schemas.microsoft.com/office/drawing/2014/main" val="4175607589"/>
                    </a:ext>
                  </a:extLst>
                </a:gridCol>
              </a:tblGrid>
              <a:tr h="879329">
                <a:tc gridSpan="2">
                  <a:txBody>
                    <a:bodyPr/>
                    <a:lstStyle/>
                    <a:p>
                      <a:pPr algn="ctr"/>
                      <a:r>
                        <a:rPr lang="en-US" sz="2800" dirty="0"/>
                        <a:t>Fields Names of Amazon Sales Dataset</a:t>
                      </a:r>
                      <a:endParaRPr lang="en-IN" dirty="0"/>
                    </a:p>
                  </a:txBody>
                  <a:tcPr/>
                </a:tc>
                <a:tc hMerge="1"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noFill/>
                    </a:lnL>
                  </a:tcPr>
                </a:tc>
                <a:extLst>
                  <a:ext uri="{0D108BD9-81ED-4DB2-BD59-A6C34878D82A}">
                    <a16:rowId xmlns:a16="http://schemas.microsoft.com/office/drawing/2014/main" val="3764505579"/>
                  </a:ext>
                </a:extLst>
              </a:tr>
              <a:tr h="3969762">
                <a:tc>
                  <a:txBody>
                    <a:bodyPr/>
                    <a:lstStyle/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Order ID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Order Date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Product ID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Product Category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Price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Discount Percent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Quantity Sold</a:t>
                      </a:r>
                      <a:br>
                        <a:rPr lang="en-US" dirty="0"/>
                      </a:br>
                      <a:endParaRPr lang="en-US" dirty="0"/>
                    </a:p>
                    <a:p>
                      <a:pPr algn="l"/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Customer Region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Payment Method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Rating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Review Count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Discounted Price</a:t>
                      </a:r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endParaRPr lang="en-US" dirty="0"/>
                    </a:p>
                    <a:p>
                      <a:pPr marL="285750" indent="-285750" algn="l">
                        <a:buFont typeface="Wingdings" panose="05000000000000000000" pitchFamily="2" charset="2"/>
                        <a:buChar char="q"/>
                      </a:pPr>
                      <a:r>
                        <a:rPr lang="en-US" dirty="0"/>
                        <a:t>Total Revenue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55518514"/>
                  </a:ext>
                </a:extLst>
              </a:tr>
            </a:tbl>
          </a:graphicData>
        </a:graphic>
      </p:graphicFrame>
      <p:sp>
        <p:nvSpPr>
          <p:cNvPr id="15" name="TextBox 14">
            <a:extLst>
              <a:ext uri="{FF2B5EF4-FFF2-40B4-BE49-F238E27FC236}">
                <a16:creationId xmlns:a16="http://schemas.microsoft.com/office/drawing/2014/main" id="{042D17CC-ECBA-0BAE-8C5F-2DE9665A5744}"/>
              </a:ext>
            </a:extLst>
          </p:cNvPr>
          <p:cNvSpPr txBox="1"/>
          <p:nvPr/>
        </p:nvSpPr>
        <p:spPr>
          <a:xfrm>
            <a:off x="4100945" y="1648691"/>
            <a:ext cx="4599710" cy="595745"/>
          </a:xfrm>
          <a:prstGeom prst="rect">
            <a:avLst/>
          </a:prstGeom>
        </p:spPr>
        <p:txBody>
          <a:bodyPr vert="horz" wrap="square" lIns="91440" tIns="45720" rIns="91440" bIns="45720" rtlCol="0">
            <a:noAutofit/>
          </a:bodyPr>
          <a:lstStyle/>
          <a:p>
            <a:pPr marL="0" indent="0" algn="l">
              <a:lnSpc>
                <a:spcPts val="1800"/>
              </a:lnSpc>
              <a:spcAft>
                <a:spcPts val="600"/>
              </a:spcAft>
              <a:buNone/>
            </a:pPr>
            <a:endParaRPr lang="en-IN" sz="1200" dirty="0">
              <a:solidFill>
                <a:prstClr val="black">
                  <a:lumMod val="75000"/>
                  <a:lumOff val="25000"/>
                </a:prstClr>
              </a:solidFill>
              <a:latin typeface="Segoe UI" panose="020B0502040204020203" pitchFamily="34" charset="0"/>
              <a:cs typeface="Segoe UI" panose="020B0502040204020203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99743905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D5EE622-B204-4BAA-A73B-2ED70B230E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>
                <a:solidFill>
                  <a:srgbClr val="E7E6E6">
                    <a:lumMod val="25000"/>
                  </a:srgbClr>
                </a:solidFill>
                <a:latin typeface="Segoe UI Light" panose="020B0502040204020203" pitchFamily="34" charset="0"/>
                <a:cs typeface="Segoe UI Light" panose="020B0502040204020203" pitchFamily="34" charset="0"/>
              </a:rPr>
              <a:t>Average Revenue by Product Category</a:t>
            </a:r>
            <a:endParaRPr lang="en-US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9421827E-7AFC-F136-9DD3-872EC8102A5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453167772"/>
              </p:ext>
            </p:extLst>
          </p:nvPr>
        </p:nvGraphicFramePr>
        <p:xfrm>
          <a:off x="1444444" y="1691769"/>
          <a:ext cx="9303111" cy="471760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66563385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D466E39-B815-CE75-06B9-C08E8B49E5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Revenue By Customer Region</a:t>
            </a:r>
            <a:endParaRPr lang="en-IN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04DB73F-2546-77AF-FA52-B0C4ABC69146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021292090"/>
              </p:ext>
            </p:extLst>
          </p:nvPr>
        </p:nvGraphicFramePr>
        <p:xfrm>
          <a:off x="1717963" y="1925781"/>
          <a:ext cx="8756073" cy="4156363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54704914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EC327D6-1FED-358D-59D1-DF6CAEA696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Quantity By Product Category</a:t>
            </a:r>
            <a:endParaRPr lang="en-IN" b="1" dirty="0"/>
          </a:p>
        </p:txBody>
      </p:sp>
      <mc:AlternateContent xmlns:mc="http://schemas.openxmlformats.org/markup-compatibility/2006" xmlns:cx1="http://schemas.microsoft.com/office/drawing/2015/9/8/chartex">
        <mc:Choice Requires="cx1">
          <p:graphicFrame>
            <p:nvGraphicFramePr>
              <p:cNvPr id="3" name="Chart 2">
                <a:extLst>
                  <a:ext uri="{FF2B5EF4-FFF2-40B4-BE49-F238E27FC236}">
                    <a16:creationId xmlns:a16="http://schemas.microsoft.com/office/drawing/2014/main" id="{1E324584-13F9-4435-B149-AA8817EB5C33}"/>
                  </a:ext>
                </a:extLst>
              </p:cNvPr>
              <p:cNvGraphicFramePr/>
              <p:nvPr>
                <p:extLst>
                  <p:ext uri="{D42A27DB-BD31-4B8C-83A1-F6EECF244321}">
                    <p14:modId xmlns:p14="http://schemas.microsoft.com/office/powerpoint/2010/main" val="3427191984"/>
                  </p:ext>
                </p:extLst>
              </p:nvPr>
            </p:nvGraphicFramePr>
            <p:xfrm>
              <a:off x="1891145" y="1911927"/>
              <a:ext cx="8409709" cy="4378037"/>
            </p:xfrm>
            <a:graphic>
              <a:graphicData uri="http://schemas.microsoft.com/office/drawing/2014/chartex">
                <cx:chart xmlns:cx="http://schemas.microsoft.com/office/drawing/2014/chartex" xmlns:r="http://schemas.openxmlformats.org/officeDocument/2006/relationships" r:id="rId2"/>
              </a:graphicData>
            </a:graphic>
          </p:graphicFrame>
        </mc:Choice>
        <mc:Fallback xmlns="">
          <p:pic>
            <p:nvPicPr>
              <p:cNvPr id="3" name="Chart 2">
                <a:extLst>
                  <a:ext uri="{FF2B5EF4-FFF2-40B4-BE49-F238E27FC236}">
                    <a16:creationId xmlns:a16="http://schemas.microsoft.com/office/drawing/2014/main" id="{1E324584-13F9-4435-B149-AA8817EB5C33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1891145" y="1911927"/>
                <a:ext cx="8409709" cy="4378037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3247863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08B0BB4-5598-17F7-6654-128CF137E09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Products With the Highest Satisfactory Rating</a:t>
            </a:r>
            <a:endParaRPr lang="en-IN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3D815F47-2E41-1D7A-B47F-DE27706D177E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200579907"/>
              </p:ext>
            </p:extLst>
          </p:nvPr>
        </p:nvGraphicFramePr>
        <p:xfrm>
          <a:off x="2030665" y="2105891"/>
          <a:ext cx="8130669" cy="4094018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740908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6895538-9F84-27A7-2038-E45D870295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Top 10 Orders By its Revenue Value</a:t>
            </a:r>
            <a:endParaRPr lang="en-IN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B3CCA547-72C2-9D0F-1737-9C8B95F8A733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882658413"/>
              </p:ext>
            </p:extLst>
          </p:nvPr>
        </p:nvGraphicFramePr>
        <p:xfrm>
          <a:off x="1828800" y="1671117"/>
          <a:ext cx="8534400" cy="473825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08865991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CCA1344-7956-05B4-AE8B-DAB326437B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Discount Impact on Revenue</a:t>
            </a:r>
            <a:endParaRPr lang="en-IN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5055858F-9449-EC84-1884-3D02324F375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3397030540"/>
              </p:ext>
            </p:extLst>
          </p:nvPr>
        </p:nvGraphicFramePr>
        <p:xfrm>
          <a:off x="1801091" y="1648692"/>
          <a:ext cx="8589818" cy="48906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151081076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E1F8E6B-828B-9D42-E313-E076290859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Monthly Revenue Trend</a:t>
            </a:r>
            <a:endParaRPr lang="en-IN" b="1" dirty="0"/>
          </a:p>
        </p:txBody>
      </p:sp>
      <p:graphicFrame>
        <p:nvGraphicFramePr>
          <p:cNvPr id="3" name="Chart 2">
            <a:extLst>
              <a:ext uri="{FF2B5EF4-FFF2-40B4-BE49-F238E27FC236}">
                <a16:creationId xmlns:a16="http://schemas.microsoft.com/office/drawing/2014/main" id="{781AC26E-B936-94C8-C623-F0FF1DEAB99A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7907226"/>
              </p:ext>
            </p:extLst>
          </p:nvPr>
        </p:nvGraphicFramePr>
        <p:xfrm>
          <a:off x="1514489" y="1579418"/>
          <a:ext cx="9163021" cy="4829954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</p:spTree>
    <p:extLst>
      <p:ext uri="{BB962C8B-B14F-4D97-AF65-F5344CB8AC3E}">
        <p14:creationId xmlns:p14="http://schemas.microsoft.com/office/powerpoint/2010/main" val="335080886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C2CC373-88AF-AF1B-75B7-1402122D6B6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Interactive Dashboard on the Data Analysis</a:t>
            </a:r>
            <a:endParaRPr lang="en-IN" b="1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443CB73B-0263-7A83-0AA0-640E38D2B1F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3240" y="2119745"/>
            <a:ext cx="11490105" cy="35467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1844945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4322E42-AFFD-4B81-BD7A-77AB9FC3B4B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Conclusion</a:t>
            </a:r>
          </a:p>
        </p:txBody>
      </p:sp>
      <p:sp>
        <p:nvSpPr>
          <p:cNvPr id="4" name="Try It Text" descr="Try it yourself with the parrot on the right:">
            <a:extLst>
              <a:ext uri="{FF2B5EF4-FFF2-40B4-BE49-F238E27FC236}">
                <a16:creationId xmlns:a16="http://schemas.microsoft.com/office/drawing/2014/main" id="{0D42AC0C-5EE6-42C4-91EE-07F7C9599947}"/>
              </a:ext>
            </a:extLst>
          </p:cNvPr>
          <p:cNvSpPr txBox="1">
            <a:spLocks/>
          </p:cNvSpPr>
          <p:nvPr/>
        </p:nvSpPr>
        <p:spPr>
          <a:xfrm>
            <a:off x="541609" y="1455491"/>
            <a:ext cx="5110161" cy="5097709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 marL="2286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 smtClean="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ts val="1800"/>
              </a:lnSpc>
              <a:spcBef>
                <a:spcPts val="1000"/>
              </a:spcBef>
              <a:spcAft>
                <a:spcPts val="1000"/>
              </a:spcAft>
              <a:buFont typeface="Arial" panose="020B0604020202020204" pitchFamily="34" charset="0"/>
              <a:buChar char="•"/>
              <a:defRPr lang="en-US" sz="1200" kern="1200">
                <a:solidFill>
                  <a:schemeClr val="tx1">
                    <a:lumMod val="75000"/>
                    <a:lumOff val="25000"/>
                  </a:schemeClr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ct val="300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Data cleaning process was executed on the amazon sales dataset.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Cleaned data was loaded into the SQL database.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All the 10 SQL tasks were executed successfully by creating SQL queries.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The outputs of each query was saved in excel format.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Appropriate pivot tables &amp; pivot charts were created.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r>
              <a:rPr lang="en-US" sz="2000" dirty="0">
                <a:solidFill>
                  <a:prstClr val="black">
                    <a:lumMod val="75000"/>
                    <a:lumOff val="25000"/>
                  </a:prstClr>
                </a:solidFill>
                <a:latin typeface="Segoe UI Semibold" panose="020B0702040204020203" pitchFamily="34" charset="0"/>
                <a:cs typeface="Segoe UI Semibold" panose="020B0702040204020203" pitchFamily="34" charset="0"/>
              </a:rPr>
              <a:t>An interactive dashboard was made on the analyzed data with pivot charts.</a:t>
            </a:r>
          </a:p>
          <a:p>
            <a:pPr>
              <a:spcAft>
                <a:spcPts val="2000"/>
              </a:spcAft>
              <a:buFont typeface="Wingdings" panose="05000000000000000000" pitchFamily="2" charset="2"/>
              <a:buChar char="Ø"/>
            </a:pPr>
            <a:endParaRPr lang="en-US" sz="2000" dirty="0">
              <a:solidFill>
                <a:prstClr val="black">
                  <a:lumMod val="75000"/>
                  <a:lumOff val="25000"/>
                </a:prstClr>
              </a:solidFill>
              <a:latin typeface="Segoe UI Semibold" panose="020B0702040204020203" pitchFamily="34" charset="0"/>
              <a:cs typeface="Segoe UI Semibold" panose="020B0702040204020203" pitchFamily="34" charset="0"/>
            </a:endParaRPr>
          </a:p>
        </p:txBody>
      </p:sp>
      <mc:AlternateContent xmlns:mc="http://schemas.openxmlformats.org/markup-compatibility/2006">
        <mc:Choice xmlns:am3d="http://schemas.microsoft.com/office/drawing/2017/model3d" Requires="am3d">
          <p:graphicFrame>
            <p:nvGraphicFramePr>
              <p:cNvPr id="24" name="3D Model 23" descr="3D model of a parrot">
                <a:extLst>
                  <a:ext uri="{FF2B5EF4-FFF2-40B4-BE49-F238E27FC236}">
                    <a16:creationId xmlns:a16="http://schemas.microsoft.com/office/drawing/2014/main" id="{CCCE7507-16DA-4EE0-A55C-07EE55110FC7}"/>
                  </a:ext>
                </a:extLst>
              </p:cNvPr>
              <p:cNvGraphicFramePr>
                <a:graphicFrameLocks noChangeAspect="1"/>
              </p:cNvGraphicFramePr>
              <p:nvPr>
                <p:extLst>
                  <p:ext uri="{D42A27DB-BD31-4B8C-83A1-F6EECF244321}">
                    <p14:modId xmlns:p14="http://schemas.microsoft.com/office/powerpoint/2010/main" val="2901715206"/>
                  </p:ext>
                </p:extLst>
              </p:nvPr>
            </p:nvGraphicFramePr>
            <p:xfrm>
              <a:off x="8134006" y="1431342"/>
              <a:ext cx="1552272" cy="4866325"/>
            </p:xfrm>
            <a:graphic>
              <a:graphicData uri="http://schemas.microsoft.com/office/drawing/2017/model3d">
                <am3d:model3d r:embed="rId2">
                  <am3d:spPr>
                    <a:xfrm>
                      <a:off x="0" y="0"/>
                      <a:ext cx="1552272" cy="4866325"/>
                    </a:xfrm>
                    <a:prstGeom prst="rect">
                      <a:avLst/>
                    </a:prstGeom>
                  </am3d:spPr>
                  <am3d:camera>
                    <am3d:pos x="0" y="0" z="52563001"/>
                    <am3d:up dx="0" dy="36000000" dz="0"/>
                    <am3d:lookAt x="0" y="0" z="0"/>
                    <am3d:perspective fov="2700000"/>
                  </am3d:camera>
                  <am3d:trans>
                    <am3d:meterPerModelUnit n="12089550" d="1000000"/>
                    <am3d:preTrans dx="2779495" dy="-17991192" dz="-845298"/>
                    <am3d:scale>
                      <am3d:sx n="1000000" d="1000000"/>
                      <am3d:sy n="1000000" d="1000000"/>
                      <am3d:sz n="1000000" d="1000000"/>
                    </am3d:scale>
                    <am3d:rot ax="214005" ay="217895" az="13569"/>
                    <am3d:postTrans dx="0" dy="0" dz="0"/>
                  </am3d:trans>
                  <am3d:raster rName="Office3DRenderer" rVer="16.0.8326">
                    <am3d:blip r:embed="rId3"/>
                  </am3d:raster>
                  <am3d:objViewport viewportSz="5418667"/>
                  <am3d:ambientLight>
                    <am3d:clr>
                      <a:scrgbClr r="50000" g="50000" b="50000"/>
                    </am3d:clr>
                    <am3d:illuminance n="500000" d="1000000"/>
                  </am3d:ambientLight>
                  <am3d:ptLight rad="0">
                    <am3d:clr>
                      <a:scrgbClr r="100000" g="75000" b="50000"/>
                    </am3d:clr>
                    <am3d:intensity n="9765625" d="1000000"/>
                    <am3d:pos x="21959998" y="70920001" z="16344003"/>
                  </am3d:ptLight>
                  <am3d:ptLight rad="0">
                    <am3d:clr>
                      <a:scrgbClr r="40000" g="60000" b="95000"/>
                    </am3d:clr>
                    <am3d:intensity n="12250000" d="1000000"/>
                    <am3d:pos x="-37964106" y="51130435" z="57631972"/>
                  </am3d:ptLight>
                  <am3d:ptLight rad="0">
                    <am3d:clr>
                      <a:scrgbClr r="86837" g="72700" b="100000"/>
                    </am3d:clr>
                    <am3d:intensity n="3125000" d="1000000"/>
                    <am3d:pos x="-37739122" y="58056624" z="-34769649"/>
                  </am3d:ptLight>
                </am3d:model3d>
              </a:graphicData>
            </a:graphic>
          </p:graphicFrame>
        </mc:Choice>
        <mc:Fallback>
          <p:pic>
            <p:nvPicPr>
              <p:cNvPr id="24" name="3D Model 23" descr="3D model of a parrot">
                <a:extLst>
                  <a:ext uri="{FF2B5EF4-FFF2-40B4-BE49-F238E27FC236}">
                    <a16:creationId xmlns:a16="http://schemas.microsoft.com/office/drawing/2014/main" id="{CCCE7507-16DA-4EE0-A55C-07EE55110FC7}"/>
                  </a:ext>
                </a:extLst>
              </p:cNvPr>
              <p:cNvPicPr>
                <a:picLocks noGrp="1" noRot="1" noChangeAspect="1" noMove="1" noResize="1" noEditPoints="1" noAdjustHandles="1" noChangeArrowheads="1" noChangeShapeType="1" noCrop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134006" y="1431342"/>
                <a:ext cx="1552272" cy="4866325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1424314166"/>
      </p:ext>
    </p:extLst>
  </p:cSld>
  <p:clrMapOvr>
    <a:masterClrMapping/>
  </p:clrMapOvr>
</p:sld>
</file>

<file path=ppt/theme/theme1.xml><?xml version="1.0" encoding="utf-8"?>
<a:theme xmlns:a="http://schemas.openxmlformats.org/drawingml/2006/main" name="Get Started with 3D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Segoe UI">
      <a:majorFont>
        <a:latin typeface="Segoe UI Light"/>
        <a:ea typeface=""/>
        <a:cs typeface=""/>
      </a:majorFont>
      <a:minorFont>
        <a:latin typeface="Segoe U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txDef>
      <a:spPr/>
      <a:bodyPr vert="horz" lIns="91440" tIns="45720" rIns="91440" bIns="45720" rtlCol="0">
        <a:noAutofit/>
      </a:bodyPr>
      <a:lstStyle>
        <a:defPPr marL="0" indent="0" algn="l">
          <a:lnSpc>
            <a:spcPts val="1800"/>
          </a:lnSpc>
          <a:spcAft>
            <a:spcPts val="600"/>
          </a:spcAft>
          <a:buNone/>
          <a:defRPr sz="1200" dirty="0" smtClean="0">
            <a:solidFill>
              <a:prstClr val="black">
                <a:lumMod val="75000"/>
                <a:lumOff val="25000"/>
              </a:prstClr>
            </a:solidFill>
            <a:latin typeface="Segoe UI" panose="020B0502040204020203" pitchFamily="34" charset="0"/>
            <a:cs typeface="Segoe UI" panose="020B0502040204020203" pitchFamily="34" charset="0"/>
          </a:defRPr>
        </a:defPPr>
      </a:lstStyle>
    </a:txDef>
  </a:objectDefaults>
  <a:extraClrSchemeLst/>
  <a:extLst>
    <a:ext uri="{05A4C25C-085E-4340-85A3-A5531E510DB2}">
      <thm15:themeFamily xmlns:thm15="http://schemas.microsoft.com/office/thememl/2012/main" name="tf16411177_win32_fixed.potx" id="{2BE36628-40A7-4124-9B03-283680FDB08B}" vid="{1F788C18-5B90-4886-BC26-C8416480C9D4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{5C03C643-B499-478C-8701-64B762AFD5FC}TF1b6f9bfa-769c-4e44-b3db-2615999da08e4eb5ee7a_win32-a6c35a7f46f2</Template>
  <TotalTime>99</TotalTime>
  <Words>204</Words>
  <Application>Microsoft Office PowerPoint</Application>
  <PresentationFormat>Widescreen</PresentationFormat>
  <Paragraphs>67</Paragraphs>
  <Slides>13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9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3" baseType="lpstr">
      <vt:lpstr>Arial</vt:lpstr>
      <vt:lpstr>Calibri</vt:lpstr>
      <vt:lpstr>Consolas</vt:lpstr>
      <vt:lpstr>Playfair Display Bold</vt:lpstr>
      <vt:lpstr>Raleway</vt:lpstr>
      <vt:lpstr>Segoe UI</vt:lpstr>
      <vt:lpstr>Segoe UI Light</vt:lpstr>
      <vt:lpstr>Segoe UI Semibold</vt:lpstr>
      <vt:lpstr>Wingdings</vt:lpstr>
      <vt:lpstr>Get Started with 3D</vt:lpstr>
      <vt:lpstr>Interactive Dashboard Creation on Amazon Sales Dataset</vt:lpstr>
      <vt:lpstr>Project Flowchart</vt:lpstr>
      <vt:lpstr>Data Cleaning</vt:lpstr>
      <vt:lpstr>Fields Present in the Dataset</vt:lpstr>
      <vt:lpstr>Average Revenue by Product Category</vt:lpstr>
      <vt:lpstr>Revenue By Customer Region</vt:lpstr>
      <vt:lpstr>Quantity By Product Category</vt:lpstr>
      <vt:lpstr>Products With the Highest Satisfactory Rating</vt:lpstr>
      <vt:lpstr>Top 10 Orders By its Revenue Value</vt:lpstr>
      <vt:lpstr>Discount Impact on Revenue</vt:lpstr>
      <vt:lpstr>Monthly Revenue Trend</vt:lpstr>
      <vt:lpstr>Interactive Dashboard on the Data Analysis</vt:lpstr>
      <vt:lpstr>Conclusion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Interactive Dashboard Creation on Amazon Sales Dataset</dc:title>
  <dc:creator>msi</dc:creator>
  <cp:lastModifiedBy>msi</cp:lastModifiedBy>
  <cp:revision>4</cp:revision>
  <dcterms:created xsi:type="dcterms:W3CDTF">2026-03-03T13:48:36Z</dcterms:created>
  <dcterms:modified xsi:type="dcterms:W3CDTF">2026-03-04T08:01:52Z</dcterms:modified>
</cp:coreProperties>
</file>