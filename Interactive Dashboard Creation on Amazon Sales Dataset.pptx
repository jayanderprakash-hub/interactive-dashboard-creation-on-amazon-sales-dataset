
<file path=[Content_Types].xml><?xml version="1.0" encoding="utf-8"?>
<Types xmlns="http://schemas.openxmlformats.org/package/2006/content-types">
  <Default Extension="glb" ContentType="model/gltf.binary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598" autoAdjust="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si\Downloads\Livewire\Excel\Project%202\Visualising%20of%20the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si\Downloads\Livewire\Excel\Project%202\Visualising%20of%20the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si\Downloads\Livewire\Excel\Project%202\Visualising%20of%20the%20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si\Downloads\Livewire\Excel\Project%202\Visualising%20of%20the%20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si\Downloads\Livewire\Excel\Project%202\Visualising%20of%20the%20Dat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si\Downloads\Livewire\Excel\Project%202\Visualising%20of%20the%20Dat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msi\Downloads\Livewire\Excel\Project%202\Visualising%20of%20the%20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[Visualising of the Data.xlsx]Query 1!PivotTable2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Avg Revenue by Product</a:t>
            </a:r>
            <a:r>
              <a:rPr lang="en-US" baseline="0"/>
              <a:t> Category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'Query 1'!$F$2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'Query 1'!$E$3:$E$9</c:f>
              <c:strCache>
                <c:ptCount val="6"/>
                <c:pt idx="0">
                  <c:v>Home &amp; Kitchen</c:v>
                </c:pt>
                <c:pt idx="1">
                  <c:v>Books</c:v>
                </c:pt>
                <c:pt idx="2">
                  <c:v>Electronics</c:v>
                </c:pt>
                <c:pt idx="3">
                  <c:v>Beauty</c:v>
                </c:pt>
                <c:pt idx="4">
                  <c:v>Fashion</c:v>
                </c:pt>
                <c:pt idx="5">
                  <c:v>Sports</c:v>
                </c:pt>
              </c:strCache>
            </c:strRef>
          </c:cat>
          <c:val>
            <c:numRef>
              <c:f>'Query 1'!$F$3:$F$9</c:f>
              <c:numCache>
                <c:formatCode>General</c:formatCode>
                <c:ptCount val="6"/>
                <c:pt idx="0">
                  <c:v>663</c:v>
                </c:pt>
                <c:pt idx="1">
                  <c:v>659</c:v>
                </c:pt>
                <c:pt idx="2">
                  <c:v>658</c:v>
                </c:pt>
                <c:pt idx="3">
                  <c:v>656</c:v>
                </c:pt>
                <c:pt idx="4">
                  <c:v>655</c:v>
                </c:pt>
                <c:pt idx="5">
                  <c:v>654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EE-4820-8C65-68E500DF1D9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36670352"/>
        <c:axId val="1036672432"/>
      </c:barChart>
      <c:catAx>
        <c:axId val="103667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6672432"/>
        <c:crosses val="autoZero"/>
        <c:auto val="1"/>
        <c:lblAlgn val="ctr"/>
        <c:lblOffset val="100"/>
        <c:noMultiLvlLbl val="0"/>
      </c:catAx>
      <c:valAx>
        <c:axId val="1036672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6670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[Visualising of the Data.xlsx]Query 2!PivotTable6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Revenue</a:t>
            </a:r>
            <a:r>
              <a:rPr lang="en-US" baseline="0"/>
              <a:t> by Region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'Query 2'!$F$2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C4F8-473D-8A2B-1186306EB9A8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C4F8-473D-8A2B-1186306EB9A8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C4F8-473D-8A2B-1186306EB9A8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C4F8-473D-8A2B-1186306EB9A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'Query 2'!$E$3:$E$7</c:f>
              <c:strCache>
                <c:ptCount val="4"/>
                <c:pt idx="0">
                  <c:v>Asia</c:v>
                </c:pt>
                <c:pt idx="1">
                  <c:v>Europe</c:v>
                </c:pt>
                <c:pt idx="2">
                  <c:v>Middle East</c:v>
                </c:pt>
                <c:pt idx="3">
                  <c:v>North America</c:v>
                </c:pt>
              </c:strCache>
            </c:strRef>
          </c:cat>
          <c:val>
            <c:numRef>
              <c:f>'Query 2'!$F$3:$F$7</c:f>
              <c:numCache>
                <c:formatCode>General</c:formatCode>
                <c:ptCount val="4"/>
                <c:pt idx="0">
                  <c:v>8175200</c:v>
                </c:pt>
                <c:pt idx="1">
                  <c:v>8112312</c:v>
                </c:pt>
                <c:pt idx="2">
                  <c:v>8301844</c:v>
                </c:pt>
                <c:pt idx="3">
                  <c:v>8277218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4F8-473D-8A2B-1186306EB9A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[Visualising of the Data.xlsx]Query 5!PivotTable12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Most Satisfied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areaChart>
        <c:grouping val="stacked"/>
        <c:varyColors val="0"/>
        <c:ser>
          <c:idx val="0"/>
          <c:order val="0"/>
          <c:tx>
            <c:strRef>
              <c:f>'Query 5'!$G$2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cat>
            <c:strRef>
              <c:f>'Query 5'!$F$3:$F$9</c:f>
              <c:strCache>
                <c:ptCount val="6"/>
                <c:pt idx="0">
                  <c:v>Beauty</c:v>
                </c:pt>
                <c:pt idx="1">
                  <c:v>Books</c:v>
                </c:pt>
                <c:pt idx="2">
                  <c:v>Electronics</c:v>
                </c:pt>
                <c:pt idx="3">
                  <c:v>Fashion</c:v>
                </c:pt>
                <c:pt idx="4">
                  <c:v>Home &amp; Kitchen</c:v>
                </c:pt>
                <c:pt idx="5">
                  <c:v>Sports</c:v>
                </c:pt>
              </c:strCache>
            </c:strRef>
          </c:cat>
          <c:val>
            <c:numRef>
              <c:f>'Query 5'!$G$3:$G$9</c:f>
              <c:numCache>
                <c:formatCode>General</c:formatCode>
                <c:ptCount val="6"/>
                <c:pt idx="0">
                  <c:v>2.9849999999999999</c:v>
                </c:pt>
                <c:pt idx="1">
                  <c:v>3.02</c:v>
                </c:pt>
                <c:pt idx="2">
                  <c:v>2.9910000000000001</c:v>
                </c:pt>
                <c:pt idx="3">
                  <c:v>2.988</c:v>
                </c:pt>
                <c:pt idx="4">
                  <c:v>2.9969999999999999</c:v>
                </c:pt>
                <c:pt idx="5">
                  <c:v>2.9969999999999999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65-498C-9D32-0042307DAC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1479664"/>
        <c:axId val="1071475088"/>
      </c:areaChart>
      <c:catAx>
        <c:axId val="10714796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1475088"/>
        <c:crosses val="autoZero"/>
        <c:auto val="1"/>
        <c:lblAlgn val="ctr"/>
        <c:lblOffset val="100"/>
        <c:noMultiLvlLbl val="0"/>
      </c:catAx>
      <c:valAx>
        <c:axId val="10714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147966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[Visualising of the Data.xlsx]Query 6!PivotTable13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Top 10 Orders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'Query 6'!$G$1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stdErr"/>
            <c:noEndCap val="0"/>
            <c:spPr>
              <a:noFill/>
              <a:ln w="9525" cap="flat" cmpd="sng" algn="ctr">
                <a:solidFill>
                  <a:schemeClr val="lt1">
                    <a:lumMod val="95000"/>
                  </a:schemeClr>
                </a:solidFill>
                <a:round/>
              </a:ln>
              <a:effectLst/>
            </c:spPr>
          </c:errBars>
          <c:cat>
            <c:multiLvlStrRef>
              <c:f>'Query 6'!$F$2:$F$17</c:f>
              <c:multiLvlStrCache>
                <c:ptCount val="10"/>
                <c:lvl>
                  <c:pt idx="0">
                    <c:v>10794</c:v>
                  </c:pt>
                  <c:pt idx="1">
                    <c:v>32944</c:v>
                  </c:pt>
                  <c:pt idx="2">
                    <c:v>33029</c:v>
                  </c:pt>
                  <c:pt idx="3">
                    <c:v>10450</c:v>
                  </c:pt>
                  <c:pt idx="4">
                    <c:v>30742</c:v>
                  </c:pt>
                  <c:pt idx="5">
                    <c:v>12128</c:v>
                  </c:pt>
                  <c:pt idx="6">
                    <c:v>12835</c:v>
                  </c:pt>
                  <c:pt idx="7">
                    <c:v>23880</c:v>
                  </c:pt>
                  <c:pt idx="8">
                    <c:v>18858</c:v>
                  </c:pt>
                  <c:pt idx="9">
                    <c:v>27833</c:v>
                  </c:pt>
                </c:lvl>
                <c:lvl>
                  <c:pt idx="0">
                    <c:v>Beauty</c:v>
                  </c:pt>
                  <c:pt idx="1">
                    <c:v>Books</c:v>
                  </c:pt>
                  <c:pt idx="3">
                    <c:v>Electronics</c:v>
                  </c:pt>
                  <c:pt idx="5">
                    <c:v>Home &amp; Kitchen</c:v>
                  </c:pt>
                  <c:pt idx="8">
                    <c:v>Sports</c:v>
                  </c:pt>
                </c:lvl>
              </c:multiLvlStrCache>
            </c:multiLvlStrRef>
          </c:cat>
          <c:val>
            <c:numRef>
              <c:f>'Query 6'!$G$2:$G$17</c:f>
              <c:numCache>
                <c:formatCode>General</c:formatCode>
                <c:ptCount val="10"/>
                <c:pt idx="0">
                  <c:v>2498.85</c:v>
                </c:pt>
                <c:pt idx="1">
                  <c:v>2492.5</c:v>
                </c:pt>
                <c:pt idx="2">
                  <c:v>2483.5500000000002</c:v>
                </c:pt>
                <c:pt idx="3">
                  <c:v>2485.85</c:v>
                </c:pt>
                <c:pt idx="4">
                  <c:v>2492.3000000000002</c:v>
                </c:pt>
                <c:pt idx="5">
                  <c:v>2493.8000000000002</c:v>
                </c:pt>
                <c:pt idx="6">
                  <c:v>2488.5</c:v>
                </c:pt>
                <c:pt idx="7">
                  <c:v>2493.0500000000002</c:v>
                </c:pt>
                <c:pt idx="8">
                  <c:v>2487.3000000000002</c:v>
                </c:pt>
                <c:pt idx="9">
                  <c:v>2499.5500000000002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1A-4C3F-83CE-F4B8083DDE5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72915856"/>
        <c:axId val="1172916272"/>
      </c:barChart>
      <c:catAx>
        <c:axId val="1172915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2916272"/>
        <c:crosses val="autoZero"/>
        <c:auto val="1"/>
        <c:lblAlgn val="ctr"/>
        <c:lblOffset val="100"/>
        <c:noMultiLvlLbl val="0"/>
      </c:catAx>
      <c:valAx>
        <c:axId val="1172916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2915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[Visualising of the Data.xlsx]Query 7!PivotTable3</c:name>
    <c:fmtId val="3"/>
  </c:pivotSource>
  <c:chart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'Query 7'!$O$2</c:f>
              <c:strCache>
                <c:ptCount val="1"/>
                <c:pt idx="0">
                  <c:v>Sum of quantity_sold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'Query 7'!$M$3:$M$9</c:f>
              <c:strCache>
                <c:ptCount val="6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30</c:v>
                </c:pt>
              </c:strCache>
            </c:strRef>
          </c:cat>
          <c:val>
            <c:numRef>
              <c:f>'Query 7'!$O$3:$O$9</c:f>
              <c:numCache>
                <c:formatCode>General</c:formatCode>
                <c:ptCount val="6"/>
                <c:pt idx="0">
                  <c:v>24537</c:v>
                </c:pt>
                <c:pt idx="1">
                  <c:v>25448</c:v>
                </c:pt>
                <c:pt idx="2">
                  <c:v>24901</c:v>
                </c:pt>
                <c:pt idx="3">
                  <c:v>24958</c:v>
                </c:pt>
                <c:pt idx="4">
                  <c:v>25272</c:v>
                </c:pt>
                <c:pt idx="5">
                  <c:v>24854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BF-4DA0-A123-99144B05B8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363422000"/>
        <c:axId val="1363420336"/>
      </c:barChart>
      <c:lineChart>
        <c:grouping val="stacked"/>
        <c:varyColors val="0"/>
        <c:ser>
          <c:idx val="0"/>
          <c:order val="0"/>
          <c:tx>
            <c:strRef>
              <c:f>'Query 7'!$N$2</c:f>
              <c:strCache>
                <c:ptCount val="1"/>
                <c:pt idx="0">
                  <c:v>Sum of total_revenue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'Query 7'!$M$3:$M$9</c:f>
              <c:strCache>
                <c:ptCount val="6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30</c:v>
                </c:pt>
              </c:strCache>
            </c:strRef>
          </c:cat>
          <c:val>
            <c:numRef>
              <c:f>'Query 7'!$N$3:$N$9</c:f>
              <c:numCache>
                <c:formatCode>General</c:formatCode>
                <c:ptCount val="6"/>
                <c:pt idx="0">
                  <c:v>6154055.3099999819</c:v>
                </c:pt>
                <c:pt idx="1">
                  <c:v>6182826.8999999883</c:v>
                </c:pt>
                <c:pt idx="2">
                  <c:v>5732411.4700000007</c:v>
                </c:pt>
                <c:pt idx="3">
                  <c:v>5322103.9100000039</c:v>
                </c:pt>
                <c:pt idx="4">
                  <c:v>5128525.230000006</c:v>
                </c:pt>
                <c:pt idx="5">
                  <c:v>4346650.919999985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BF-4DA0-A123-99144B05B8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63417840"/>
        <c:axId val="1363405776"/>
      </c:lineChart>
      <c:catAx>
        <c:axId val="1363417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3405776"/>
        <c:crosses val="autoZero"/>
        <c:auto val="1"/>
        <c:lblAlgn val="ctr"/>
        <c:lblOffset val="100"/>
        <c:noMultiLvlLbl val="0"/>
      </c:catAx>
      <c:valAx>
        <c:axId val="136340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3417840"/>
        <c:crosses val="autoZero"/>
        <c:crossBetween val="between"/>
      </c:valAx>
      <c:valAx>
        <c:axId val="1363420336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3422000"/>
        <c:crosses val="max"/>
        <c:crossBetween val="between"/>
      </c:valAx>
      <c:catAx>
        <c:axId val="13634220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6342033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[Visualising of the Data.xlsx]Query 9!PivotTable4</c:name>
    <c:fmtId val="7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'Query 9'!$F$2:$F$3</c:f>
              <c:strCache>
                <c:ptCount val="1"/>
                <c:pt idx="0">
                  <c:v>2022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'Query 9'!$E$4:$E$16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'Query 9'!$F$4:$F$16</c:f>
              <c:numCache>
                <c:formatCode>General</c:formatCode>
                <c:ptCount val="12"/>
                <c:pt idx="0">
                  <c:v>1419752</c:v>
                </c:pt>
                <c:pt idx="1">
                  <c:v>1266714</c:v>
                </c:pt>
                <c:pt idx="2">
                  <c:v>1392585</c:v>
                </c:pt>
                <c:pt idx="3">
                  <c:v>1371956</c:v>
                </c:pt>
                <c:pt idx="4">
                  <c:v>1374780</c:v>
                </c:pt>
                <c:pt idx="5">
                  <c:v>1352125</c:v>
                </c:pt>
                <c:pt idx="6">
                  <c:v>1346089</c:v>
                </c:pt>
                <c:pt idx="7">
                  <c:v>1449308</c:v>
                </c:pt>
                <c:pt idx="8">
                  <c:v>1403967</c:v>
                </c:pt>
                <c:pt idx="9">
                  <c:v>1334818</c:v>
                </c:pt>
                <c:pt idx="10">
                  <c:v>1291100</c:v>
                </c:pt>
                <c:pt idx="11">
                  <c:v>1386210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59-4704-8FAF-AE0B83D048F0}"/>
            </c:ext>
          </c:extLst>
        </c:ser>
        <c:ser>
          <c:idx val="1"/>
          <c:order val="1"/>
          <c:tx>
            <c:strRef>
              <c:f>'Query 9'!$G$2:$G$3</c:f>
              <c:strCache>
                <c:ptCount val="1"/>
                <c:pt idx="0">
                  <c:v>2023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'Query 9'!$E$4:$E$16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'Query 9'!$G$4:$G$16</c:f>
              <c:numCache>
                <c:formatCode>General</c:formatCode>
                <c:ptCount val="12"/>
                <c:pt idx="0">
                  <c:v>1464175</c:v>
                </c:pt>
                <c:pt idx="1">
                  <c:v>1238381</c:v>
                </c:pt>
                <c:pt idx="2">
                  <c:v>1366418</c:v>
                </c:pt>
                <c:pt idx="3">
                  <c:v>1307018</c:v>
                </c:pt>
                <c:pt idx="4">
                  <c:v>1431399</c:v>
                </c:pt>
                <c:pt idx="5">
                  <c:v>1394822</c:v>
                </c:pt>
                <c:pt idx="6">
                  <c:v>1442177</c:v>
                </c:pt>
                <c:pt idx="7">
                  <c:v>1396322</c:v>
                </c:pt>
                <c:pt idx="8">
                  <c:v>1341008</c:v>
                </c:pt>
                <c:pt idx="9">
                  <c:v>1425936</c:v>
                </c:pt>
                <c:pt idx="10">
                  <c:v>1334328</c:v>
                </c:pt>
                <c:pt idx="11">
                  <c:v>1335185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59-4704-8FAF-AE0B83D048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7392592"/>
        <c:axId val="1257396336"/>
      </c:lineChart>
      <c:catAx>
        <c:axId val="1257392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7396336"/>
        <c:crosses val="autoZero"/>
        <c:auto val="1"/>
        <c:lblAlgn val="ctr"/>
        <c:lblOffset val="100"/>
        <c:noMultiLvlLbl val="0"/>
      </c:catAx>
      <c:valAx>
        <c:axId val="1257396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7392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'Query 3'!$A$2:$A$7</cx:f>
        <cx:lvl ptCount="6">
          <cx:pt idx="0">Beauty</cx:pt>
          <cx:pt idx="1">Fashion</cx:pt>
          <cx:pt idx="2">Books</cx:pt>
          <cx:pt idx="3">Electronics</cx:pt>
          <cx:pt idx="4">Sports</cx:pt>
          <cx:pt idx="5">Home &amp; Kitchen</cx:pt>
        </cx:lvl>
      </cx:strDim>
      <cx:numDim type="size">
        <cx:f>'Query 3'!$B$2:$B$7</cx:f>
        <cx:lvl ptCount="6" formatCode="General">
          <cx:pt idx="0">25422</cx:pt>
          <cx:pt idx="1">25089</cx:pt>
          <cx:pt idx="2">25065</cx:pt>
          <cx:pt idx="3">24898</cx:pt>
          <cx:pt idx="4">24753</cx:pt>
          <cx:pt idx="5">24743</cx:pt>
        </cx:lvl>
      </cx:numDim>
    </cx:data>
  </cx:chartData>
  <cx:chart>
    <cx:title pos="t" align="ctr" overlay="0">
      <cx:tx>
        <cx:txData>
          <cx:v>Quantity by Category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600" b="1" i="0" u="none" strike="noStrike" spc="100" baseline="0">
              <a:solidFill>
                <a:sysClr val="window" lastClr="FFFFFF">
                  <a:lumMod val="95000"/>
                </a:sys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alibri" panose="020F0502020204030204"/>
            </a:rPr>
            <a:t>Quantity by Category</a:t>
          </a:r>
        </a:p>
      </cx:txPr>
    </cx:title>
    <cx:plotArea>
      <cx:plotAreaRegion>
        <cx:series layoutId="treemap" uniqueId="{04513112-0FD0-4223-9F86-AC4B6FC3D567}">
          <cx:tx>
            <cx:txData>
              <cx:f>'Query 3'!$B$1</cx:f>
              <cx:v>quantity_sold</cx:v>
            </cx:txData>
          </cx:tx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b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415">
  <cs:axisTitle>
    <cs:lnRef idx="0"/>
    <cs:fillRef idx="0"/>
    <cs:effectRef idx="0"/>
    <cs:fontRef idx="minor">
      <a:schemeClr val="lt1">
        <a:lumMod val="95000"/>
      </a:schemeClr>
    </cs:fontRef>
    <cs:spPr>
      <a:solidFill>
        <a:schemeClr val="bg1">
          <a:lumMod val="65000"/>
        </a:schemeClr>
      </a:solidFill>
      <a:ln>
        <a:solidFill>
          <a:schemeClr val="tx1"/>
        </a:solidFill>
      </a:ln>
    </cs:spPr>
    <cs:defRPr sz="900"/>
  </cs:axisTitle>
  <cs:category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/>
  </cs:chartArea>
  <cs:dataLabel>
    <cs:lnRef idx="0"/>
    <cs:fillRef idx="0"/>
    <cs:effectRef idx="0"/>
    <cs:fontRef idx="minor">
      <a:schemeClr val="lt1">
        <a:lumMod val="9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lt1"/>
    </cs:fontRef>
    <cs:spPr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  <a:ln>
        <a:solidFill>
          <a:schemeClr val="tx1"/>
        </a:solidFill>
      </a:ln>
    </cs:spPr>
  </cs:dataPoint>
  <cs:dataPoint3D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</cs:spPr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lt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9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10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95000"/>
      </a:schemeClr>
    </cs:fontRef>
    <cs:defRPr sz="9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lt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spc="10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95000"/>
      </a:schemeClr>
    </cs:fontRef>
    <cs:defRPr sz="9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95000"/>
      </a:schemeClr>
    </cs:fontRef>
    <cs:defRPr sz="9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8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4240666"/>
            <a:ext cx="7051963" cy="1253835"/>
          </a:xfrm>
        </p:spPr>
        <p:txBody>
          <a:bodyPr/>
          <a:lstStyle/>
          <a:p>
            <a:pPr algn="ctr">
              <a:lnSpc>
                <a:spcPts val="4620"/>
              </a:lnSpc>
            </a:pPr>
            <a:r>
              <a:rPr lang="en-US" sz="4400" b="0" dirty="0">
                <a:effectLst/>
                <a:latin typeface="Consolas" panose="020B0609020204030204" pitchFamily="49" charset="0"/>
              </a:rPr>
              <a:t>Interactive Dashboard Creation on Amazon Sales Dataset</a:t>
            </a:r>
            <a:endParaRPr lang="en-US" sz="4400" b="1" dirty="0">
              <a:solidFill>
                <a:srgbClr val="FFFFFF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6FA85D-3B0A-4E0C-B8AC-042993910A93}"/>
              </a:ext>
            </a:extLst>
          </p:cNvPr>
          <p:cNvSpPr txBox="1">
            <a:spLocks/>
          </p:cNvSpPr>
          <p:nvPr/>
        </p:nvSpPr>
        <p:spPr>
          <a:xfrm>
            <a:off x="8576526" y="5568533"/>
            <a:ext cx="2447364" cy="4952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18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Presented By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FE0F52F-ADF1-4011-A51B-92383D0AB7F8}"/>
              </a:ext>
            </a:extLst>
          </p:cNvPr>
          <p:cNvSpPr txBox="1">
            <a:spLocks/>
          </p:cNvSpPr>
          <p:nvPr/>
        </p:nvSpPr>
        <p:spPr>
          <a:xfrm>
            <a:off x="8576526" y="5837440"/>
            <a:ext cx="3760738" cy="102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sng" dirty="0"/>
              <a:t>Jayander Prakash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BAB8FB-7BF9-9B60-2F43-6EFEE6909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314696"/>
            <a:ext cx="7835043" cy="372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Flowchart</a:t>
            </a:r>
          </a:p>
        </p:txBody>
      </p:sp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5D483DB7-3925-4129-9AB3-FF75028415D3}"/>
              </a:ext>
            </a:extLst>
          </p:cNvPr>
          <p:cNvSpPr txBox="1">
            <a:spLocks/>
          </p:cNvSpPr>
          <p:nvPr/>
        </p:nvSpPr>
        <p:spPr>
          <a:xfrm>
            <a:off x="1382178" y="1452563"/>
            <a:ext cx="3475038" cy="523918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39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aleway"/>
                <a:ea typeface="Raleway"/>
                <a:cs typeface="Raleway"/>
                <a:sym typeface="Raleway"/>
              </a:rPr>
              <a:t>Data Cleaning</a:t>
            </a:r>
          </a:p>
          <a:p>
            <a:pPr algn="l">
              <a:lnSpc>
                <a:spcPts val="2399"/>
              </a:lnSpc>
            </a:pPr>
            <a:endParaRPr lang="en-US" sz="1800" dirty="0">
              <a:latin typeface="Raleway"/>
              <a:ea typeface="Raleway"/>
              <a:cs typeface="Raleway"/>
              <a:sym typeface="Raleway"/>
            </a:endParaRPr>
          </a:p>
          <a:p>
            <a:pPr marL="285750" indent="-285750" algn="l">
              <a:lnSpc>
                <a:spcPts val="239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aleway"/>
                <a:ea typeface="Raleway"/>
                <a:cs typeface="Raleway"/>
                <a:sym typeface="Raleway"/>
              </a:rPr>
              <a:t>Data Loading</a:t>
            </a:r>
          </a:p>
          <a:p>
            <a:pPr algn="l">
              <a:lnSpc>
                <a:spcPts val="2399"/>
              </a:lnSpc>
            </a:pPr>
            <a:endParaRPr lang="en-US" sz="1800" dirty="0">
              <a:latin typeface="Raleway"/>
              <a:ea typeface="Raleway"/>
              <a:cs typeface="Raleway"/>
              <a:sym typeface="Raleway"/>
            </a:endParaRPr>
          </a:p>
          <a:p>
            <a:pPr marL="285750" indent="-285750" algn="l">
              <a:lnSpc>
                <a:spcPts val="239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aleway"/>
                <a:ea typeface="Raleway"/>
                <a:cs typeface="Raleway"/>
                <a:sym typeface="Raleway"/>
              </a:rPr>
              <a:t>SQL Query Creation</a:t>
            </a:r>
          </a:p>
          <a:p>
            <a:pPr marL="285750" indent="-285750" algn="l">
              <a:lnSpc>
                <a:spcPts val="2399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Raleway"/>
              <a:ea typeface="Raleway"/>
              <a:cs typeface="Raleway"/>
              <a:sym typeface="Raleway"/>
            </a:endParaRPr>
          </a:p>
          <a:p>
            <a:pPr marL="285750" indent="-285750" algn="l">
              <a:lnSpc>
                <a:spcPts val="239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aleway"/>
                <a:ea typeface="Raleway"/>
                <a:cs typeface="Raleway"/>
                <a:sym typeface="Raleway"/>
              </a:rPr>
              <a:t>Visualization of Retrieved Data</a:t>
            </a:r>
          </a:p>
          <a:p>
            <a:pPr marL="285750" indent="-285750" algn="l">
              <a:lnSpc>
                <a:spcPts val="2399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Raleway"/>
              <a:ea typeface="Raleway"/>
              <a:cs typeface="Raleway"/>
              <a:sym typeface="Raleway"/>
            </a:endParaRPr>
          </a:p>
          <a:p>
            <a:pPr marL="285750" indent="-285750" algn="l">
              <a:lnSpc>
                <a:spcPts val="239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aleway"/>
                <a:ea typeface="Raleway"/>
                <a:cs typeface="Raleway"/>
                <a:sym typeface="Raleway"/>
              </a:rPr>
              <a:t>Dashboard Execution</a:t>
            </a:r>
          </a:p>
          <a:p>
            <a:pPr marL="285750" indent="-285750" algn="l">
              <a:lnSpc>
                <a:spcPts val="2399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Raleway"/>
              <a:ea typeface="Raleway"/>
              <a:cs typeface="Raleway"/>
              <a:sym typeface="Raleway"/>
            </a:endParaRPr>
          </a:p>
          <a:p>
            <a:pPr marL="285750" indent="-285750" algn="l">
              <a:lnSpc>
                <a:spcPts val="239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aleway"/>
                <a:ea typeface="Raleway"/>
                <a:cs typeface="Raleway"/>
                <a:sym typeface="Raleway"/>
              </a:rPr>
              <a:t>Conclusion</a:t>
            </a:r>
          </a:p>
        </p:txBody>
      </p:sp>
      <p:pic>
        <p:nvPicPr>
          <p:cNvPr id="3" name="Grid" descr="grid plane">
            <a:extLst>
              <a:ext uri="{FF2B5EF4-FFF2-40B4-BE49-F238E27FC236}">
                <a16:creationId xmlns:a16="http://schemas.microsoft.com/office/drawing/2014/main" id="{71F5A0B2-7584-4034-8919-A5F2C482F46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7" r="-943" b="-1096"/>
          <a:stretch/>
        </p:blipFill>
        <p:spPr>
          <a:xfrm>
            <a:off x="5827143" y="2570364"/>
            <a:ext cx="5896604" cy="303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0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7273F9-59F9-4FB3-9D34-82C64C4F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AB49E1-195D-497A-BB31-2158958CA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>
            <a:normAutofit fontScale="85000" lnSpcReduction="10000"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400" dirty="0"/>
              <a:t>Check for Missing Values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400" dirty="0"/>
              <a:t>Check For Duplicate Values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400" dirty="0"/>
              <a:t>Normalize Data Types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400" dirty="0"/>
              <a:t>Execute Data Validation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400" dirty="0"/>
              <a:t>Perform Spellchecks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841605-9DF4-71BF-B2CC-67D3C633E3F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A6F0D1-C6FC-189D-0EA9-A8394DA4B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466" y="1507068"/>
            <a:ext cx="7206100" cy="466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Fields Present in the Dataset</a:t>
            </a:r>
          </a:p>
        </p:txBody>
      </p:sp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06C53D05-94E2-0D58-7454-0D00ED30C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094938"/>
              </p:ext>
            </p:extLst>
          </p:nvPr>
        </p:nvGraphicFramePr>
        <p:xfrm>
          <a:off x="2032000" y="1454727"/>
          <a:ext cx="8128000" cy="508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7846370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75607589"/>
                    </a:ext>
                  </a:extLst>
                </a:gridCol>
              </a:tblGrid>
              <a:tr h="87932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Fields Names of Amazon Sales Dataset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64505579"/>
                  </a:ext>
                </a:extLst>
              </a:tr>
              <a:tr h="3969762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Order ID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endParaRPr lang="en-US" dirty="0"/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Order Date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endParaRPr lang="en-US" dirty="0"/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Product ID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endParaRPr lang="en-US" dirty="0"/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Product Category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endParaRPr lang="en-US" dirty="0"/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Price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endParaRPr lang="en-US" dirty="0"/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Discount Percent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endParaRPr lang="en-US" dirty="0"/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Quantity Sold</a:t>
                      </a:r>
                      <a:br>
                        <a:rPr lang="en-US" dirty="0"/>
                      </a:br>
                      <a:endParaRPr lang="en-US" dirty="0"/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Customer Region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endParaRPr lang="en-US" dirty="0"/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Payment Method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endParaRPr lang="en-US" dirty="0"/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Rating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endParaRPr lang="en-US" dirty="0"/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Review Count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endParaRPr lang="en-US" dirty="0"/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Discounted Price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endParaRPr lang="en-US" dirty="0"/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Total Revenue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51851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42D17CC-ECBA-0BAE-8C5F-2DE9665A5744}"/>
              </a:ext>
            </a:extLst>
          </p:cNvPr>
          <p:cNvSpPr txBox="1"/>
          <p:nvPr/>
        </p:nvSpPr>
        <p:spPr>
          <a:xfrm>
            <a:off x="4100945" y="1648691"/>
            <a:ext cx="4599710" cy="59574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E622-B204-4BAA-A73B-2ED70B23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E7E6E6">
                    <a:lumMod val="25000"/>
                  </a:srgb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Average Revenue by Product Category</a:t>
            </a:r>
            <a:endParaRPr lang="en-US" b="1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DCD234A-D2AC-BFB1-EB9D-4269B277AF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3097310"/>
              </p:ext>
            </p:extLst>
          </p:nvPr>
        </p:nvGraphicFramePr>
        <p:xfrm>
          <a:off x="2025686" y="1293668"/>
          <a:ext cx="8140628" cy="4270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6563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6E39-B815-CE75-06B9-C08E8B49E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Revenue By Customer Region</a:t>
            </a:r>
            <a:endParaRPr lang="en-IN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04DB73F-2546-77AF-FA52-B0C4ABC691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1292090"/>
              </p:ext>
            </p:extLst>
          </p:nvPr>
        </p:nvGraphicFramePr>
        <p:xfrm>
          <a:off x="1717963" y="1925781"/>
          <a:ext cx="8756073" cy="4156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47049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327D6-1FED-358D-59D1-DF6CAEA69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Quantity By Product Category</a:t>
            </a:r>
            <a:endParaRPr lang="en-IN" b="1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Chart 2">
                <a:extLst>
                  <a:ext uri="{FF2B5EF4-FFF2-40B4-BE49-F238E27FC236}">
                    <a16:creationId xmlns:a16="http://schemas.microsoft.com/office/drawing/2014/main" id="{1E324584-13F9-4435-B149-AA8817EB5C3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27191984"/>
                  </p:ext>
                </p:extLst>
              </p:nvPr>
            </p:nvGraphicFramePr>
            <p:xfrm>
              <a:off x="1891145" y="1911927"/>
              <a:ext cx="8409709" cy="437803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Chart 2">
                <a:extLst>
                  <a:ext uri="{FF2B5EF4-FFF2-40B4-BE49-F238E27FC236}">
                    <a16:creationId xmlns:a16="http://schemas.microsoft.com/office/drawing/2014/main" id="{1E324584-13F9-4435-B149-AA8817EB5C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1145" y="1911927"/>
                <a:ext cx="8409709" cy="437803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7863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0BB4-5598-17F7-6654-128CF137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Products With the Highest Satisfactory Rating</a:t>
            </a:r>
            <a:endParaRPr lang="en-IN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D815F47-2E41-1D7A-B47F-DE27706D17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0579907"/>
              </p:ext>
            </p:extLst>
          </p:nvPr>
        </p:nvGraphicFramePr>
        <p:xfrm>
          <a:off x="2030665" y="2105891"/>
          <a:ext cx="8130669" cy="4094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4090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5538-9F84-27A7-2038-E45D8702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 10 Orders By its Revenue Value</a:t>
            </a:r>
            <a:endParaRPr lang="en-IN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3CCA547-72C2-9D0F-1737-9C8B95F8A7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2658413"/>
              </p:ext>
            </p:extLst>
          </p:nvPr>
        </p:nvGraphicFramePr>
        <p:xfrm>
          <a:off x="1828800" y="1671117"/>
          <a:ext cx="8534400" cy="4738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88659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A1344-7956-05B4-AE8B-DAB326437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Discount Impact on Revenue</a:t>
            </a:r>
            <a:endParaRPr lang="en-IN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055858F-9449-EC84-1884-3D02324F37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7030540"/>
              </p:ext>
            </p:extLst>
          </p:nvPr>
        </p:nvGraphicFramePr>
        <p:xfrm>
          <a:off x="1801091" y="1648692"/>
          <a:ext cx="8589818" cy="4890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10810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F8E6B-828B-9D42-E313-E07629085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Monthly Revenue Trend</a:t>
            </a:r>
            <a:endParaRPr lang="en-IN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81AC26E-B936-94C8-C623-F0FF1DEAB9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907226"/>
              </p:ext>
            </p:extLst>
          </p:nvPr>
        </p:nvGraphicFramePr>
        <p:xfrm>
          <a:off x="1514489" y="1579418"/>
          <a:ext cx="9163021" cy="4829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50808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C373-88AF-AF1B-75B7-1402122D6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Interactive Dashboard on the Data Analysis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CB73B-0263-7A83-0AA0-640E38D2B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40" y="2119745"/>
            <a:ext cx="11490105" cy="354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49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322E42-AFFD-4B81-BD7A-77AB9FC3B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Try It Text" descr="Try it yourself with the parrot on the right:">
            <a:extLst>
              <a:ext uri="{FF2B5EF4-FFF2-40B4-BE49-F238E27FC236}">
                <a16:creationId xmlns:a16="http://schemas.microsoft.com/office/drawing/2014/main" id="{0D42AC0C-5EE6-42C4-91EE-07F7C9599947}"/>
              </a:ext>
            </a:extLst>
          </p:cNvPr>
          <p:cNvSpPr txBox="1">
            <a:spLocks/>
          </p:cNvSpPr>
          <p:nvPr/>
        </p:nvSpPr>
        <p:spPr>
          <a:xfrm>
            <a:off x="541609" y="1455491"/>
            <a:ext cx="5110161" cy="5097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cleaning process was executed on the amazon sales dataset.</a:t>
            </a:r>
          </a:p>
          <a:p>
            <a:pPr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Cleaned data was loaded into the SQL database.</a:t>
            </a:r>
          </a:p>
          <a:p>
            <a:pPr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All the 10 SQL tasks were executed successfully by creating SQL queries.</a:t>
            </a:r>
          </a:p>
          <a:p>
            <a:pPr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outputs of each query was saved in excel format.</a:t>
            </a:r>
          </a:p>
          <a:p>
            <a:pPr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Appropriate pivot tables &amp; pivot charts were created.</a:t>
            </a:r>
          </a:p>
          <a:p>
            <a:pPr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 interactive dashboard was made on the analyzed data with pivot charts.</a:t>
            </a:r>
          </a:p>
          <a:p>
            <a:pPr>
              <a:spcAft>
                <a:spcPts val="2000"/>
              </a:spcAft>
              <a:buFont typeface="Wingdings" panose="05000000000000000000" pitchFamily="2" charset="2"/>
              <a:buChar char="Ø"/>
            </a:pPr>
            <a:endParaRPr lang="en-US" sz="2000" dirty="0">
              <a:solidFill>
                <a:prstClr val="black">
                  <a:lumMod val="75000"/>
                  <a:lumOff val="25000"/>
                </a:prst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4" name="3D Model 23" descr="3D model of a parrot">
                <a:extLst>
                  <a:ext uri="{FF2B5EF4-FFF2-40B4-BE49-F238E27FC236}">
                    <a16:creationId xmlns:a16="http://schemas.microsoft.com/office/drawing/2014/main" id="{CCCE7507-16DA-4EE0-A55C-07EE55110FC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01715206"/>
                  </p:ext>
                </p:extLst>
              </p:nvPr>
            </p:nvGraphicFramePr>
            <p:xfrm>
              <a:off x="8134006" y="1431342"/>
              <a:ext cx="1552272" cy="486632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552272" cy="4866325"/>
                    </a:xfrm>
                    <a:prstGeom prst="rect">
                      <a:avLst/>
                    </a:prstGeom>
                  </am3d:spPr>
                  <am3d:camera>
                    <am3d:pos x="0" y="0" z="525630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89550" d="1000000"/>
                    <am3d:preTrans dx="2779495" dy="-17991192" dz="-845298"/>
                    <am3d:scale>
                      <am3d:sx n="1000000" d="1000000"/>
                      <am3d:sy n="1000000" d="1000000"/>
                      <am3d:sz n="1000000" d="1000000"/>
                    </am3d:scale>
                    <am3d:rot ax="214005" ay="217895" az="13569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4186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4" name="3D Model 23" descr="3D model of a parrot">
                <a:extLst>
                  <a:ext uri="{FF2B5EF4-FFF2-40B4-BE49-F238E27FC236}">
                    <a16:creationId xmlns:a16="http://schemas.microsoft.com/office/drawing/2014/main" id="{CCCE7507-16DA-4EE0-A55C-07EE55110F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34006" y="1431342"/>
                <a:ext cx="1552272" cy="48663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4314166"/>
      </p:ext>
    </p:extLst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7_win32_fixed.potx" id="{2BE36628-40A7-4124-9B03-283680FDB08B}" vid="{1F788C18-5B90-4886-BC26-C8416480C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{5C03C643-B499-478C-8701-64B762AFD5FC}TF1b6f9bfa-769c-4e44-b3db-2615999da08e4eb5ee7a_win32-a6c35a7f46f2</Template>
  <TotalTime>92</TotalTime>
  <Words>204</Words>
  <Application>Microsoft Office PowerPoint</Application>
  <PresentationFormat>Widescreen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Consolas</vt:lpstr>
      <vt:lpstr>Playfair Display Bold</vt:lpstr>
      <vt:lpstr>Raleway</vt:lpstr>
      <vt:lpstr>Segoe UI</vt:lpstr>
      <vt:lpstr>Segoe UI Light</vt:lpstr>
      <vt:lpstr>Segoe UI Semibold</vt:lpstr>
      <vt:lpstr>Wingdings</vt:lpstr>
      <vt:lpstr>Get Started with 3D</vt:lpstr>
      <vt:lpstr>Interactive Dashboard Creation on Amazon Sales Dataset</vt:lpstr>
      <vt:lpstr>Project Flowchart</vt:lpstr>
      <vt:lpstr>Data Cleaning</vt:lpstr>
      <vt:lpstr>Fields Present in the Dataset</vt:lpstr>
      <vt:lpstr>Average Revenue by Product Category</vt:lpstr>
      <vt:lpstr>Revenue By Customer Region</vt:lpstr>
      <vt:lpstr>Quantity By Product Category</vt:lpstr>
      <vt:lpstr>Products With the Highest Satisfactory Rating</vt:lpstr>
      <vt:lpstr>Top 10 Orders By its Revenue Value</vt:lpstr>
      <vt:lpstr>Discount Impact on Revenue</vt:lpstr>
      <vt:lpstr>Monthly Revenue Trend</vt:lpstr>
      <vt:lpstr>Interactive Dashboard on the Data 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Dashboard Creation on Amazon Sales Dataset</dc:title>
  <dc:creator>msi</dc:creator>
  <cp:lastModifiedBy>msi</cp:lastModifiedBy>
  <cp:revision>3</cp:revision>
  <dcterms:created xsi:type="dcterms:W3CDTF">2026-03-03T13:48:36Z</dcterms:created>
  <dcterms:modified xsi:type="dcterms:W3CDTF">2026-03-03T15:21:35Z</dcterms:modified>
</cp:coreProperties>
</file>